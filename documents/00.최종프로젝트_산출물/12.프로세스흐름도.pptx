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99eAu7fmpsla7oV2WqNpC1RHr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5BEF45-2EF1-458C-9787-1BC9596429DC}">
  <a:tblStyle styleId="{7C5BEF45-2EF1-458C-9787-1BC9596429DC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 b="off" i="off"/>
    </a:neCell>
    <a:nwCell>
      <a:tcTxStyle b="off" i="off"/>
    </a:nwCell>
  </a:tblStyle>
  <a:tblStyle styleId="{2F9D6FA3-42FB-4F4C-A9C2-E1D8743AF330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828151F7-5CD9-4208-B906-712C5BB1ECBB}" styleName="Table_2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F1F5"/>
          </a:solidFill>
        </a:fill>
      </a:tcStyle>
    </a:wholeTbl>
    <a:band1H>
      <a:tcTxStyle b="off" i="off"/>
      <a:tcStyle>
        <a:fill>
          <a:solidFill>
            <a:srgbClr val="CEE2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EE2EA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8F1F5"/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fill>
          <a:solidFill>
            <a:srgbClr val="E8F1F5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afc78385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3bafc78385d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afc78385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bafc78385d_0_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afc78385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bafc78385d_0_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afc78385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bafc78385d_0_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afc78385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bafc78385d_0_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afc78385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bafc78385d_0_1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-1179" y="0"/>
            <a:ext cx="9144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148064" y="5589240"/>
            <a:ext cx="3994757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-1179" y="3861048"/>
            <a:ext cx="6661411" cy="720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-36512" y="2548642"/>
            <a:ext cx="413927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프로세스 흐름도</a:t>
            </a:r>
            <a:endParaRPr b="1" i="0" sz="4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아웃소싱 &amp; PMS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5148064" y="4445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{7C5BEF45-2EF1-458C-9787-1BC9596429DC}</a:tableStyleId>
              </a:tblPr>
              <a:tblGrid>
                <a:gridCol w="1944225"/>
                <a:gridCol w="1944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문서관리번호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DDIT-01-21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    성    일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ko-KR" sz="18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2026.01.21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           안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-1179" y="0"/>
            <a:ext cx="9144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251520" y="116632"/>
            <a:ext cx="82089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</a:t>
            </a:r>
            <a:endParaRPr b="1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07504" y="188640"/>
            <a:ext cx="144016" cy="3792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461" y="666140"/>
            <a:ext cx="9140539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01" name="Google Shape;101;p2"/>
          <p:cNvGraphicFramePr/>
          <p:nvPr/>
        </p:nvGraphicFramePr>
        <p:xfrm>
          <a:off x="286358" y="738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{2F9D6FA3-42FB-4F4C-A9C2-E1D8743AF330}</a:tableStyleId>
              </a:tblPr>
              <a:tblGrid>
                <a:gridCol w="1428150"/>
                <a:gridCol w="1428150"/>
                <a:gridCol w="2856325"/>
                <a:gridCol w="1428150"/>
                <a:gridCol w="1428150"/>
              </a:tblGrid>
              <a:tr h="286200"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문서개정이력표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 hMerge="1"/>
                <a:tc hMerge="1"/>
                <a:tc hMerge="1"/>
                <a:tc hMerge="1"/>
              </a:tr>
              <a:tr h="2020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문서명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프로세스 흐름도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 hMerge="1"/>
                <a:tc hMerge="1"/>
              </a:tr>
              <a:tr h="202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버전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날짜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내 용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작성자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승인자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      V1.0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2026-01-21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화주(shipper) 업무 프로세스 흐름도 신규 작성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            이수민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      </a:t>
                      </a: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V1.0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2026-01-21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관세사(broker) </a:t>
                      </a: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업무 프로세스 흐름도 신규 작성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       </a:t>
                      </a:r>
                      <a:r>
                        <a:rPr lang="ko-KR" sz="1200"/>
                        <a:t> 이현규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V1.0</a:t>
                      </a: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</a:t>
                      </a:r>
                      <a:r>
                        <a:rPr lang="ko-KR" sz="1200"/>
                        <a:t>2026-01-21</a:t>
                      </a: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세관원(customas)업무 프로세스 흐름도 신규 작성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            </a:t>
                      </a:r>
                      <a:r>
                        <a:rPr lang="ko-KR" sz="1200"/>
                        <a:t>최상철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           </a:t>
                      </a: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V1.0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</a:t>
                      </a:r>
                      <a:r>
                        <a:rPr lang="ko-KR" sz="1200"/>
                        <a:t>2026-01-21</a:t>
                      </a: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상급자</a:t>
                      </a: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(supervisor) 업무 프로세스 흐름도 신규 작성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            </a:t>
                      </a:r>
                      <a:r>
                        <a:rPr lang="ko-KR" sz="1200"/>
                        <a:t>최원효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V1.0</a:t>
                      </a: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  </a:t>
                      </a:r>
                      <a:r>
                        <a:rPr lang="ko-KR" sz="1200"/>
                        <a:t>2026-01-21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창고관리자(warehouse</a:t>
                      </a:r>
                      <a:r>
                        <a:rPr lang="ko-KR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업무 프로세스 흐름도 신규 작성</a:t>
                      </a: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        </a:t>
                      </a:r>
                      <a:r>
                        <a:rPr lang="ko-KR" sz="1200"/>
                        <a:t>김종창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/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800" marB="0" marR="4800" marL="480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251520" y="116632"/>
            <a:ext cx="82089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</a:t>
            </a:r>
            <a:endParaRPr b="1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07504" y="188640"/>
            <a:ext cx="144016" cy="3792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461" y="666140"/>
            <a:ext cx="9140539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10" name="Google Shape;110;p3"/>
          <p:cNvGraphicFramePr/>
          <p:nvPr/>
        </p:nvGraphicFramePr>
        <p:xfrm>
          <a:off x="183707" y="7647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{2F9D6FA3-42FB-4F4C-A9C2-E1D8743AF330}</a:tableStyleId>
              </a:tblPr>
              <a:tblGrid>
                <a:gridCol w="2195200"/>
                <a:gridCol w="2195200"/>
                <a:gridCol w="2195200"/>
                <a:gridCol w="2231850"/>
              </a:tblGrid>
              <a:tr h="14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ID 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ko-KR" sz="1100">
                          <a:solidFill>
                            <a:schemeClr val="dk1"/>
                          </a:solidFill>
                        </a:rPr>
                        <a:t>PF-G-TCS-001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프로세서 명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화주 시스템 접속 및 대시보드 조회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작성일자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cap="none" strike="noStrike"/>
                        <a:t>2026.01.21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/>
                        <a:t>이수민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" name="Google Shape;111;p3"/>
          <p:cNvGraphicFramePr/>
          <p:nvPr/>
        </p:nvGraphicFramePr>
        <p:xfrm>
          <a:off x="182477" y="13452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{828151F7-5CD9-4208-B906-712C5BB1ECBB}</a:tableStyleId>
              </a:tblPr>
              <a:tblGrid>
                <a:gridCol w="382900"/>
                <a:gridCol w="8435775"/>
              </a:tblGrid>
              <a:tr h="4350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ko-KR" sz="1600" u="none" cap="none" strike="noStrike"/>
                        <a:t>프로세스 Flow</a:t>
                      </a:r>
                      <a:endParaRPr b="0" sz="16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 hMerge="1"/>
              </a:tr>
              <a:tr h="503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112" name="Google Shape;112;p3"/>
          <p:cNvSpPr/>
          <p:nvPr/>
        </p:nvSpPr>
        <p:spPr>
          <a:xfrm>
            <a:off x="5715462" y="6029600"/>
            <a:ext cx="1636200" cy="379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신고서 전문 작성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093012" y="6029600"/>
            <a:ext cx="1636200" cy="379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의뢰 수임 및 검토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750" y="2099586"/>
            <a:ext cx="2637625" cy="3715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4838" y="2133775"/>
            <a:ext cx="2712525" cy="364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afc78385d_0_4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bafc78385d_0_48"/>
          <p:cNvSpPr txBox="1"/>
          <p:nvPr/>
        </p:nvSpPr>
        <p:spPr>
          <a:xfrm>
            <a:off x="251520" y="116632"/>
            <a:ext cx="82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</a:t>
            </a:r>
            <a:endParaRPr b="1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g3bafc78385d_0_48"/>
          <p:cNvSpPr/>
          <p:nvPr/>
        </p:nvSpPr>
        <p:spPr>
          <a:xfrm>
            <a:off x="107504" y="188640"/>
            <a:ext cx="144000" cy="3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g3bafc78385d_0_48"/>
          <p:cNvSpPr/>
          <p:nvPr/>
        </p:nvSpPr>
        <p:spPr>
          <a:xfrm>
            <a:off x="3461" y="666140"/>
            <a:ext cx="91404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24" name="Google Shape;124;g3bafc78385d_0_48"/>
          <p:cNvGraphicFramePr/>
          <p:nvPr/>
        </p:nvGraphicFramePr>
        <p:xfrm>
          <a:off x="183094" y="7380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{2F9D6FA3-42FB-4F4C-A9C2-E1D8743AF330}</a:tableStyleId>
              </a:tblPr>
              <a:tblGrid>
                <a:gridCol w="2195200"/>
                <a:gridCol w="2195200"/>
                <a:gridCol w="2195200"/>
                <a:gridCol w="2231850"/>
              </a:tblGrid>
              <a:tr h="25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ID 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ko-KR" sz="1100">
                          <a:solidFill>
                            <a:schemeClr val="dk1"/>
                          </a:solidFill>
                        </a:rPr>
                        <a:t>PF-G-TCS-001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프로세서 명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화주 시스템 접속 및 대시보드 조회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작성일자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cap="none" strike="noStrike"/>
                        <a:t>2026.01.21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/>
                        <a:t>이수민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" name="Google Shape;125;g3bafc78385d_0_48"/>
          <p:cNvGraphicFramePr/>
          <p:nvPr/>
        </p:nvGraphicFramePr>
        <p:xfrm>
          <a:off x="182477" y="14686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{828151F7-5CD9-4208-B906-712C5BB1ECBB}</a:tableStyleId>
              </a:tblPr>
              <a:tblGrid>
                <a:gridCol w="382900"/>
                <a:gridCol w="8435775"/>
              </a:tblGrid>
              <a:tr h="4078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ko-KR" sz="1600" u="none" cap="none" strike="noStrike"/>
                        <a:t>프로세스 Flow</a:t>
                      </a:r>
                      <a:endParaRPr b="0" sz="16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 hMerge="1"/>
              </a:tr>
              <a:tr h="493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126" name="Google Shape;126;g3bafc78385d_0_48"/>
          <p:cNvSpPr/>
          <p:nvPr/>
        </p:nvSpPr>
        <p:spPr>
          <a:xfrm>
            <a:off x="5715462" y="6029600"/>
            <a:ext cx="1636200" cy="379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수리 및 사후 관리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g3bafc78385d_0_48"/>
          <p:cNvSpPr/>
          <p:nvPr/>
        </p:nvSpPr>
        <p:spPr>
          <a:xfrm>
            <a:off x="2093012" y="6029600"/>
            <a:ext cx="1636200" cy="379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진행 추적 및 현장 대응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8" name="Google Shape;128;g3bafc78385d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611" y="2098375"/>
            <a:ext cx="3386975" cy="371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bafc78385d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1138" y="2098375"/>
            <a:ext cx="2664815" cy="371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afc78385d_0_6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bafc78385d_0_64"/>
          <p:cNvSpPr txBox="1"/>
          <p:nvPr/>
        </p:nvSpPr>
        <p:spPr>
          <a:xfrm>
            <a:off x="251520" y="116632"/>
            <a:ext cx="82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</a:t>
            </a:r>
            <a:endParaRPr b="1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g3bafc78385d_0_64"/>
          <p:cNvSpPr/>
          <p:nvPr/>
        </p:nvSpPr>
        <p:spPr>
          <a:xfrm>
            <a:off x="107504" y="188640"/>
            <a:ext cx="144000" cy="3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g3bafc78385d_0_64"/>
          <p:cNvSpPr/>
          <p:nvPr/>
        </p:nvSpPr>
        <p:spPr>
          <a:xfrm>
            <a:off x="3461" y="666140"/>
            <a:ext cx="91404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38" name="Google Shape;138;g3bafc78385d_0_64"/>
          <p:cNvGraphicFramePr/>
          <p:nvPr/>
        </p:nvGraphicFramePr>
        <p:xfrm>
          <a:off x="201419" y="7380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{2F9D6FA3-42FB-4F4C-A9C2-E1D8743AF330}</a:tableStyleId>
              </a:tblPr>
              <a:tblGrid>
                <a:gridCol w="2195200"/>
                <a:gridCol w="2195200"/>
                <a:gridCol w="2195200"/>
                <a:gridCol w="2195200"/>
              </a:tblGrid>
              <a:tr h="21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ID 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ko-KR" sz="1100">
                          <a:solidFill>
                            <a:schemeClr val="dk1"/>
                          </a:solidFill>
                        </a:rPr>
                        <a:t>PF-G-TCS-002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프로세서 명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수출입 신고 대행 및 세관 대응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작성일자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cap="none" strike="noStrike"/>
                        <a:t>2026.01.21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/>
                        <a:t>이현규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Google Shape;139;g3bafc78385d_0_64"/>
          <p:cNvGraphicFramePr/>
          <p:nvPr/>
        </p:nvGraphicFramePr>
        <p:xfrm>
          <a:off x="162665" y="14625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{828151F7-5CD9-4208-B906-712C5BB1ECBB}</a:tableStyleId>
              </a:tblPr>
              <a:tblGrid>
                <a:gridCol w="382900"/>
                <a:gridCol w="8435775"/>
              </a:tblGrid>
              <a:tr h="6618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ko-KR" sz="1600" u="none" cap="none" strike="noStrike"/>
                        <a:t>프로세스 Flow</a:t>
                      </a:r>
                      <a:endParaRPr b="0" sz="16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 hMerge="1"/>
              </a:tr>
              <a:tr h="464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140" name="Google Shape;140;g3bafc78385d_0_64"/>
          <p:cNvSpPr/>
          <p:nvPr/>
        </p:nvSpPr>
        <p:spPr>
          <a:xfrm>
            <a:off x="3343625" y="5397725"/>
            <a:ext cx="1885800" cy="246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정밀 심사 및 현장 검사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g3bafc78385d_0_64"/>
          <p:cNvSpPr/>
          <p:nvPr/>
        </p:nvSpPr>
        <p:spPr>
          <a:xfrm>
            <a:off x="565375" y="5397725"/>
            <a:ext cx="2141100" cy="246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자동접수 및 위험 선별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2" name="Google Shape;142;g3bafc78385d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025" y="2832025"/>
            <a:ext cx="8673574" cy="225073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bafc78385d_0_64"/>
          <p:cNvSpPr/>
          <p:nvPr/>
        </p:nvSpPr>
        <p:spPr>
          <a:xfrm>
            <a:off x="7431500" y="2515350"/>
            <a:ext cx="1533000" cy="246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최종 수리 및 발급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g3bafc78385d_0_64"/>
          <p:cNvSpPr/>
          <p:nvPr/>
        </p:nvSpPr>
        <p:spPr>
          <a:xfrm>
            <a:off x="5229425" y="2515350"/>
            <a:ext cx="1636200" cy="246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행정 조치 및 재검토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afc78385d_0_7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bafc78385d_0_77"/>
          <p:cNvSpPr txBox="1"/>
          <p:nvPr/>
        </p:nvSpPr>
        <p:spPr>
          <a:xfrm>
            <a:off x="251520" y="116632"/>
            <a:ext cx="82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</a:t>
            </a:r>
            <a:endParaRPr b="1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g3bafc78385d_0_77"/>
          <p:cNvSpPr/>
          <p:nvPr/>
        </p:nvSpPr>
        <p:spPr>
          <a:xfrm>
            <a:off x="107504" y="188640"/>
            <a:ext cx="144000" cy="3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g3bafc78385d_0_77"/>
          <p:cNvSpPr/>
          <p:nvPr/>
        </p:nvSpPr>
        <p:spPr>
          <a:xfrm>
            <a:off x="3461" y="666140"/>
            <a:ext cx="91404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53" name="Google Shape;153;g3bafc78385d_0_77"/>
          <p:cNvGraphicFramePr/>
          <p:nvPr/>
        </p:nvGraphicFramePr>
        <p:xfrm>
          <a:off x="183707" y="7647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{2F9D6FA3-42FB-4F4C-A9C2-E1D8743AF330}</a:tableStyleId>
              </a:tblPr>
              <a:tblGrid>
                <a:gridCol w="2195200"/>
                <a:gridCol w="2195200"/>
                <a:gridCol w="2195200"/>
                <a:gridCol w="2231850"/>
              </a:tblGrid>
              <a:tr h="14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ID 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ko-KR" sz="1100">
                          <a:solidFill>
                            <a:schemeClr val="dk1"/>
                          </a:solidFill>
                        </a:rPr>
                        <a:t>PF-G-TCS-003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프로세서 명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예상 세액 조회 및 비용 납부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작성일자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cap="none" strike="noStrike"/>
                        <a:t>2026.01.21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최상철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" name="Google Shape;154;g3bafc78385d_0_77"/>
          <p:cNvGraphicFramePr/>
          <p:nvPr/>
        </p:nvGraphicFramePr>
        <p:xfrm>
          <a:off x="182477" y="13270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{828151F7-5CD9-4208-B906-712C5BB1ECBB}</a:tableStyleId>
              </a:tblPr>
              <a:tblGrid>
                <a:gridCol w="382900"/>
                <a:gridCol w="8435775"/>
              </a:tblGrid>
              <a:tr h="3033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ko-KR" sz="1600" u="none" cap="none" strike="noStrike"/>
                        <a:t>프로세스 Flow</a:t>
                      </a:r>
                      <a:endParaRPr b="0" sz="16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 hMerge="1"/>
              </a:tr>
              <a:tr h="5075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155" name="Google Shape;155;g3bafc78385d_0_77"/>
          <p:cNvSpPr/>
          <p:nvPr/>
        </p:nvSpPr>
        <p:spPr>
          <a:xfrm>
            <a:off x="2703725" y="5730250"/>
            <a:ext cx="1640400" cy="280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예외 및 클레임 관리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6" name="Google Shape;156;g3bafc78385d_0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5" y="2475400"/>
            <a:ext cx="8712975" cy="294523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bafc78385d_0_77"/>
          <p:cNvSpPr/>
          <p:nvPr/>
        </p:nvSpPr>
        <p:spPr>
          <a:xfrm>
            <a:off x="251525" y="5730250"/>
            <a:ext cx="1080900" cy="5181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반입 및 로케이션 관리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g3bafc78385d_0_77"/>
          <p:cNvSpPr/>
          <p:nvPr/>
        </p:nvSpPr>
        <p:spPr>
          <a:xfrm>
            <a:off x="6509050" y="2031050"/>
            <a:ext cx="1640400" cy="280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정산 및 업무 종결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g3bafc78385d_0_77"/>
          <p:cNvSpPr/>
          <p:nvPr/>
        </p:nvSpPr>
        <p:spPr>
          <a:xfrm>
            <a:off x="6546400" y="5730250"/>
            <a:ext cx="1565700" cy="280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반출 승인 및 출고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afc78385d_0_9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bafc78385d_0_90"/>
          <p:cNvSpPr txBox="1"/>
          <p:nvPr/>
        </p:nvSpPr>
        <p:spPr>
          <a:xfrm>
            <a:off x="251520" y="116632"/>
            <a:ext cx="82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</a:t>
            </a:r>
            <a:endParaRPr b="1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g3bafc78385d_0_90"/>
          <p:cNvSpPr/>
          <p:nvPr/>
        </p:nvSpPr>
        <p:spPr>
          <a:xfrm>
            <a:off x="107504" y="188640"/>
            <a:ext cx="144000" cy="3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g3bafc78385d_0_90"/>
          <p:cNvSpPr/>
          <p:nvPr/>
        </p:nvSpPr>
        <p:spPr>
          <a:xfrm>
            <a:off x="3461" y="666140"/>
            <a:ext cx="91404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68" name="Google Shape;168;g3bafc78385d_0_90"/>
          <p:cNvGraphicFramePr/>
          <p:nvPr/>
        </p:nvGraphicFramePr>
        <p:xfrm>
          <a:off x="183707" y="7117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{2F9D6FA3-42FB-4F4C-A9C2-E1D8743AF330}</a:tableStyleId>
              </a:tblPr>
              <a:tblGrid>
                <a:gridCol w="2195200"/>
                <a:gridCol w="2195200"/>
                <a:gridCol w="2195200"/>
                <a:gridCol w="2195200"/>
              </a:tblGrid>
              <a:tr h="388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ID 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ko-KR" sz="1100">
                          <a:solidFill>
                            <a:schemeClr val="dk1"/>
                          </a:solidFill>
                        </a:rPr>
                        <a:t>PF-G-TCS-004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프로세서 명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화물 통관 현황 조회 및 반출(배차) 요청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작성일자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cap="none" strike="noStrike"/>
                        <a:t>2026.01.21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/>
                        <a:t>이수민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Google Shape;169;g3bafc78385d_0_90"/>
          <p:cNvGraphicFramePr/>
          <p:nvPr/>
        </p:nvGraphicFramePr>
        <p:xfrm>
          <a:off x="164752" y="14428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{828151F7-5CD9-4208-B906-712C5BB1ECBB}</a:tableStyleId>
              </a:tblPr>
              <a:tblGrid>
                <a:gridCol w="382900"/>
                <a:gridCol w="8435775"/>
              </a:tblGrid>
              <a:tr h="2899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ko-KR" sz="1600" u="none" cap="none" strike="noStrike"/>
                        <a:t>프로세스 Flow</a:t>
                      </a:r>
                      <a:endParaRPr b="0" sz="16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 hMerge="1"/>
              </a:tr>
              <a:tr h="503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pic>
        <p:nvPicPr>
          <p:cNvPr id="170" name="Google Shape;170;g3bafc78385d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3575" y="2033975"/>
            <a:ext cx="2057089" cy="3846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bafc78385d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4300" y="2033975"/>
            <a:ext cx="2234479" cy="384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bafc78385d_0_90"/>
          <p:cNvSpPr/>
          <p:nvPr/>
        </p:nvSpPr>
        <p:spPr>
          <a:xfrm>
            <a:off x="5504587" y="6121400"/>
            <a:ext cx="1833900" cy="3186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배정 및 우선순위 관리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g3bafc78385d_0_90"/>
          <p:cNvSpPr/>
          <p:nvPr/>
        </p:nvSpPr>
        <p:spPr>
          <a:xfrm>
            <a:off x="1987225" y="6121400"/>
            <a:ext cx="2089800" cy="3186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대시보드 및 지표 모니터링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afc78385d_0_10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bafc78385d_0_103"/>
          <p:cNvSpPr txBox="1"/>
          <p:nvPr/>
        </p:nvSpPr>
        <p:spPr>
          <a:xfrm>
            <a:off x="251520" y="116632"/>
            <a:ext cx="82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</a:t>
            </a:r>
            <a:endParaRPr b="1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g3bafc78385d_0_103"/>
          <p:cNvSpPr/>
          <p:nvPr/>
        </p:nvSpPr>
        <p:spPr>
          <a:xfrm>
            <a:off x="107504" y="188640"/>
            <a:ext cx="144000" cy="3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g3bafc78385d_0_103"/>
          <p:cNvSpPr/>
          <p:nvPr/>
        </p:nvSpPr>
        <p:spPr>
          <a:xfrm>
            <a:off x="3461" y="666140"/>
            <a:ext cx="91404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82" name="Google Shape;182;g3bafc78385d_0_103"/>
          <p:cNvGraphicFramePr/>
          <p:nvPr/>
        </p:nvGraphicFramePr>
        <p:xfrm>
          <a:off x="183707" y="7117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{2F9D6FA3-42FB-4F4C-A9C2-E1D8743AF330}</a:tableStyleId>
              </a:tblPr>
              <a:tblGrid>
                <a:gridCol w="2195200"/>
                <a:gridCol w="2195200"/>
                <a:gridCol w="2195200"/>
                <a:gridCol w="2231850"/>
              </a:tblGrid>
              <a:tr h="39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ID 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ko-KR" sz="1100">
                          <a:solidFill>
                            <a:schemeClr val="dk1"/>
                          </a:solidFill>
                        </a:rPr>
                        <a:t>PF-G-TCS-004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프로세서 명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화물 통관 현황 조회 및 반출(배차) 요청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작성일자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cap="none" strike="noStrike"/>
                        <a:t>2026.01.21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/>
                        <a:t>김종창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3" name="Google Shape;183;g3bafc78385d_0_103"/>
          <p:cNvGraphicFramePr/>
          <p:nvPr/>
        </p:nvGraphicFramePr>
        <p:xfrm>
          <a:off x="182477" y="14519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{828151F7-5CD9-4208-B906-712C5BB1ECBB}</a:tableStyleId>
              </a:tblPr>
              <a:tblGrid>
                <a:gridCol w="382900"/>
                <a:gridCol w="8435775"/>
              </a:tblGrid>
              <a:tr h="353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ko-KR" sz="1600" u="none" cap="none" strike="noStrike"/>
                        <a:t>프로세스 Flow</a:t>
                      </a:r>
                      <a:endParaRPr b="0" sz="16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 hMerge="1"/>
              </a:tr>
              <a:tr h="503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184" name="Google Shape;184;g3bafc78385d_0_103"/>
          <p:cNvSpPr/>
          <p:nvPr/>
        </p:nvSpPr>
        <p:spPr>
          <a:xfrm>
            <a:off x="6796562" y="5439950"/>
            <a:ext cx="1558800" cy="379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수리 및 사후 관리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g3bafc78385d_0_103"/>
          <p:cNvSpPr/>
          <p:nvPr/>
        </p:nvSpPr>
        <p:spPr>
          <a:xfrm>
            <a:off x="2605825" y="5439950"/>
            <a:ext cx="1882200" cy="379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진행 추적 및 현장 대응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6" name="Google Shape;186;g3bafc78385d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050" y="2966800"/>
            <a:ext cx="485775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bafc78385d_0_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2988" y="2785825"/>
            <a:ext cx="1685925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afc78385d_0_13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bafc78385d_0_139"/>
          <p:cNvSpPr txBox="1"/>
          <p:nvPr/>
        </p:nvSpPr>
        <p:spPr>
          <a:xfrm>
            <a:off x="251520" y="116632"/>
            <a:ext cx="82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</a:t>
            </a:r>
            <a:endParaRPr b="1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g3bafc78385d_0_139"/>
          <p:cNvSpPr/>
          <p:nvPr/>
        </p:nvSpPr>
        <p:spPr>
          <a:xfrm>
            <a:off x="107504" y="188640"/>
            <a:ext cx="144000" cy="3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g3bafc78385d_0_139"/>
          <p:cNvSpPr/>
          <p:nvPr/>
        </p:nvSpPr>
        <p:spPr>
          <a:xfrm>
            <a:off x="3461" y="666140"/>
            <a:ext cx="9140400" cy="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96" name="Google Shape;196;g3bafc78385d_0_139"/>
          <p:cNvGraphicFramePr/>
          <p:nvPr/>
        </p:nvGraphicFramePr>
        <p:xfrm>
          <a:off x="183707" y="7117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{2F9D6FA3-42FB-4F4C-A9C2-E1D8743AF330}</a:tableStyleId>
              </a:tblPr>
              <a:tblGrid>
                <a:gridCol w="2195200"/>
                <a:gridCol w="2195200"/>
                <a:gridCol w="2195200"/>
                <a:gridCol w="2231850"/>
              </a:tblGrid>
              <a:tr h="39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ID 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ko-KR" sz="1100">
                          <a:solidFill>
                            <a:schemeClr val="dk1"/>
                          </a:solidFill>
                        </a:rPr>
                        <a:t>PF-G-TCS-005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프로세서 명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화물 통관 현황 조회 및 반출(배차) 요청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작성일자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cap="none" strike="noStrike"/>
                        <a:t>2026.01.21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/>
                        <a:t>최원효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7" name="Google Shape;197;g3bafc78385d_0_139"/>
          <p:cNvGraphicFramePr/>
          <p:nvPr/>
        </p:nvGraphicFramePr>
        <p:xfrm>
          <a:off x="182477" y="14519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{828151F7-5CD9-4208-B906-712C5BB1ECBB}</a:tableStyleId>
              </a:tblPr>
              <a:tblGrid>
                <a:gridCol w="382900"/>
                <a:gridCol w="8435775"/>
              </a:tblGrid>
              <a:tr h="353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ko-KR" sz="1600" u="none" cap="none" strike="noStrike"/>
                        <a:t>프로세스 Flow</a:t>
                      </a:r>
                      <a:endParaRPr b="0" sz="16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 hMerge="1"/>
              </a:tr>
              <a:tr h="503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pic>
        <p:nvPicPr>
          <p:cNvPr id="198" name="Google Shape;198;g3bafc78385d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050" y="1896097"/>
            <a:ext cx="5005576" cy="48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bafc78385d_0_139"/>
          <p:cNvSpPr/>
          <p:nvPr/>
        </p:nvSpPr>
        <p:spPr>
          <a:xfrm>
            <a:off x="7290937" y="4116725"/>
            <a:ext cx="1636200" cy="379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정정/납부 및 사후 관리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g3bafc78385d_0_139"/>
          <p:cNvSpPr/>
          <p:nvPr/>
        </p:nvSpPr>
        <p:spPr>
          <a:xfrm>
            <a:off x="7252812" y="1896100"/>
            <a:ext cx="1636200" cy="379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수입 신고 및 서류 제출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g3bafc78385d_0_139"/>
          <p:cNvSpPr/>
          <p:nvPr/>
        </p:nvSpPr>
        <p:spPr>
          <a:xfrm>
            <a:off x="302575" y="4374975"/>
            <a:ext cx="1636200" cy="379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실시간 모니터링 및 자산 조회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g3bafc78385d_0_139"/>
          <p:cNvSpPr/>
          <p:nvPr/>
        </p:nvSpPr>
        <p:spPr>
          <a:xfrm>
            <a:off x="302575" y="3892375"/>
            <a:ext cx="1636200" cy="236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</a:t>
            </a: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및 권한 관리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g3bafc78385d_0_139"/>
          <p:cNvSpPr/>
          <p:nvPr/>
        </p:nvSpPr>
        <p:spPr>
          <a:xfrm>
            <a:off x="7290937" y="6337350"/>
            <a:ext cx="1636200" cy="379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"/>
              <a:buFont typeface="Malgun Gothic"/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수출 신고 및 선적 관리</a:t>
            </a:r>
            <a:endParaRPr b="0"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2016-02-24T11:18:49Z</dcterms:created>
  <dc:creator>AutoBVT</dc:creator>
</cp:coreProperties>
</file>