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1" r:id="rId13"/>
  </p:sldMasterIdLst>
  <p:notesMasterIdLst>
    <p:notesMasterId r:id="rId15"/>
  </p:notesMasterIdLst>
  <p:sldIdLst>
    <p:sldId id="268" r:id="rId17"/>
    <p:sldId id="269" r:id="rId18"/>
    <p:sldId id="270" r:id="rId19"/>
    <p:sldId id="295" r:id="rId20"/>
    <p:sldId id="293" r:id="rId21"/>
    <p:sldId id="294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4" r:id="rId30"/>
    <p:sldId id="303" r:id="rId31"/>
    <p:sldId id="305" r:id="rId32"/>
    <p:sldId id="306" r:id="rId33"/>
    <p:sldId id="307" r:id="rId34"/>
    <p:sldId id="308" r:id="rId35"/>
  </p:sldIdLst>
  <p:sldSz cx="9144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0">
          <p15:clr>
            <a:srgbClr val="A4A3A4"/>
          </p15:clr>
        </p15:guide>
        <p15:guide id="2" pos="2878" userDrawn="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2" autoAdjust="0"/>
    <p:restoredTop sz="92986" autoAdjust="0"/>
  </p:normalViewPr>
  <p:slideViewPr>
    <p:cSldViewPr snapToGrid="1" snapToObjects="1">
      <p:cViewPr varScale="1">
        <p:scale>
          <a:sx n="107" d="100"/>
          <a:sy n="107" d="100"/>
        </p:scale>
        <p:origin x="1746" y="108"/>
      </p:cViewPr>
      <p:guideLst>
        <p:guide orient="horz" pos="2158"/>
        <p:guide pos="2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notesMaster" Target="notesMasters/notesMaster1.xml"></Relationship><Relationship Id="rId17" Type="http://schemas.openxmlformats.org/officeDocument/2006/relationships/slide" Target="slides/slide1.xml"></Relationship><Relationship Id="rId18" Type="http://schemas.openxmlformats.org/officeDocument/2006/relationships/slide" Target="slides/slide2.xml"></Relationship><Relationship Id="rId19" Type="http://schemas.openxmlformats.org/officeDocument/2006/relationships/slide" Target="slides/slide3.xml"></Relationship><Relationship Id="rId20" Type="http://schemas.openxmlformats.org/officeDocument/2006/relationships/slide" Target="slides/slide4.xml"></Relationship><Relationship Id="rId21" Type="http://schemas.openxmlformats.org/officeDocument/2006/relationships/slide" Target="slides/slide5.xml"></Relationship><Relationship Id="rId22" Type="http://schemas.openxmlformats.org/officeDocument/2006/relationships/slide" Target="slides/slide6.xml"></Relationship><Relationship Id="rId23" Type="http://schemas.openxmlformats.org/officeDocument/2006/relationships/slide" Target="slides/slide7.xml"></Relationship><Relationship Id="rId24" Type="http://schemas.openxmlformats.org/officeDocument/2006/relationships/slide" Target="slides/slide8.xml"></Relationship><Relationship Id="rId25" Type="http://schemas.openxmlformats.org/officeDocument/2006/relationships/slide" Target="slides/slide9.xml"></Relationship><Relationship Id="rId26" Type="http://schemas.openxmlformats.org/officeDocument/2006/relationships/slide" Target="slides/slide10.xml"></Relationship><Relationship Id="rId27" Type="http://schemas.openxmlformats.org/officeDocument/2006/relationships/slide" Target="slides/slide11.xml"></Relationship><Relationship Id="rId28" Type="http://schemas.openxmlformats.org/officeDocument/2006/relationships/slide" Target="slides/slide12.xml"></Relationship><Relationship Id="rId29" Type="http://schemas.openxmlformats.org/officeDocument/2006/relationships/slide" Target="slides/slide13.xml"></Relationship><Relationship Id="rId30" Type="http://schemas.openxmlformats.org/officeDocument/2006/relationships/slide" Target="slides/slide14.xml"></Relationship><Relationship Id="rId31" Type="http://schemas.openxmlformats.org/officeDocument/2006/relationships/slide" Target="slides/slide15.xml"></Relationship><Relationship Id="rId32" Type="http://schemas.openxmlformats.org/officeDocument/2006/relationships/slide" Target="slides/slide16.xml"></Relationship><Relationship Id="rId33" Type="http://schemas.openxmlformats.org/officeDocument/2006/relationships/slide" Target="slides/slide17.xml"></Relationship><Relationship Id="rId34" Type="http://schemas.openxmlformats.org/officeDocument/2006/relationships/slide" Target="slides/slide18.xml"></Relationship><Relationship Id="rId35" Type="http://schemas.openxmlformats.org/officeDocument/2006/relationships/slide" Target="slides/slide19.xml"></Relationship><Relationship Id="rId36" Type="http://schemas.openxmlformats.org/officeDocument/2006/relationships/viewProps" Target="viewProps.xml"></Relationship><Relationship Id="rId37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1F309-D22E-4CDF-AB42-66C4745DE351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C6C931-4147-4059-A1FC-F65C816E86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65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305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625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8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94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60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23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44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12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438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5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712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EC900-ABBF-43FE-986E-DE9FD02F0D12}" type="datetimeFigureOut">
              <a:rPr lang="ko-KR" altLang="en-US" smtClean="0"/>
              <a:t>2021-11-03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7A4BF-DB52-43F4-87BA-15D4610B4C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22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image" Target="../media/image1.jpeg"></Relationship><Relationship Id="rId3" Type="http://schemas.openxmlformats.org/officeDocument/2006/relationships/slideLayout" Target="../slideLayouts/slideLayout2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496193870.png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image" Target="../media/fImage791484692966.png"></Relationship><Relationship Id="rId3" Type="http://schemas.openxmlformats.org/officeDocument/2006/relationships/slideLayout" Target="../slideLayouts/slideLayout1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393442900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298443262966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33240366695.png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269314029955.png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357074387588.png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437104744850.png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158315107754.png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296705826700.png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297545463628.png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53066618452.png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394696549059.png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358106901679.png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image" Target="../media/fImage385407265999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그림 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76800"/>
            <a:ext cx="91440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641350" y="609600"/>
            <a:ext cx="2857500" cy="4349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92710" y="2420620"/>
            <a:ext cx="7422514" cy="85979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vert="horz" anchor="t">
            <a:noAutofit/>
          </a:bodyPr>
          <a:lstStyle/>
          <a:p>
            <a:pPr marL="0" indent="0" rtl="0" algn="l" fontAlgn="base" defTabSz="91440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ko-KR" altLang="en-US" sz="1800" cap="none" i="0" b="0" strike="noStrike">
                <a:ln w="9525" cap="flat" cmpd="sng">
                  <a:noFill/>
                  <a:prstDash/>
                </a:ln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rPr>
              <a:t>            </a:t>
            </a:r>
            <a:r>
              <a:rPr lang="en-US" altLang="ko-KR" sz="1800" cap="none" i="0" b="0" strike="noStrike">
                <a:ln w="9525" cap="flat" cmpd="sng">
                  <a:noFill/>
                  <a:prstDash/>
                </a:ln>
                <a:solidFill>
                  <a:schemeClr val="tx1"/>
                </a:solidFill>
                <a:latin typeface="굴림" charset="0"/>
                <a:ea typeface="굴림" charset="0"/>
                <a:cs typeface="굴림" charset="0"/>
              </a:rPr>
              <a:t>- </a:t>
            </a:r>
            <a:r>
              <a:rPr lang="en-US" altLang="ko-KR">
                <a:latin typeface="굴림" charset="0"/>
                <a:ea typeface="굴림" charset="0"/>
                <a:cs typeface="굴림" charset="0"/>
              </a:rPr>
              <a:t>G-TCS</a:t>
            </a:r>
            <a:endParaRPr lang="ko-KR" altLang="en-US">
              <a:latin typeface="굴림" charset="0"/>
              <a:ea typeface="굴림" charset="0"/>
              <a:cs typeface="굴림" charset="0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395605" y="836930"/>
            <a:ext cx="6270625" cy="11633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2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바탕" pitchFamily="18" charset="-127"/>
                <a:ea typeface="HY견고딕" pitchFamily="18" charset="-127"/>
                <a:cs typeface="바탕" pitchFamily="18" charset="-127"/>
              </a:rPr>
              <a:t>화면정의서</a:t>
            </a:r>
            <a:endParaRPr kumimoji="1" lang="ko-KR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6464300" y="4293235"/>
            <a:ext cx="256603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t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" name="Text Box 300"/>
          <p:cNvSpPr txBox="1">
            <a:spLocks noChangeArrowheads="1"/>
          </p:cNvSpPr>
          <p:nvPr/>
        </p:nvSpPr>
        <p:spPr bwMode="auto">
          <a:xfrm>
            <a:off x="3136900" y="9674225"/>
            <a:ext cx="332740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00338" algn="ctr"/>
                <a:tab pos="5400675" algn="r"/>
              </a:tabLst>
            </a:pPr>
            <a:r>
              <a:rPr kumimoji="1" lang="en-US" altLang="ko-KR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바탕" pitchFamily="18" charset="-127"/>
                <a:cs typeface="Arial" pitchFamily="34" charset="0"/>
              </a:rPr>
              <a:t>Copyright ⓒ 2012ATIT Co., Ltd. All rights reserved </a:t>
            </a:r>
            <a:endParaRPr kumimoji="1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1" name="Line 302"/>
          <p:cNvSpPr>
            <a:spLocks noChangeShapeType="1"/>
          </p:cNvSpPr>
          <p:nvPr/>
        </p:nvSpPr>
        <p:spPr bwMode="auto">
          <a:xfrm>
            <a:off x="69850" y="609600"/>
            <a:ext cx="7310755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2" name="Line 303"/>
          <p:cNvSpPr>
            <a:spLocks noChangeShapeType="1"/>
          </p:cNvSpPr>
          <p:nvPr/>
        </p:nvSpPr>
        <p:spPr bwMode="auto">
          <a:xfrm>
            <a:off x="-2540" y="2251710"/>
            <a:ext cx="7310755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Line 304"/>
          <p:cNvSpPr>
            <a:spLocks noChangeShapeType="1"/>
          </p:cNvSpPr>
          <p:nvPr/>
        </p:nvSpPr>
        <p:spPr bwMode="auto">
          <a:xfrm>
            <a:off x="57150" y="3510915"/>
            <a:ext cx="7308850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7"/>
          <p:cNvSpPr>
            <a:spLocks noChangeArrowheads="1"/>
          </p:cNvSpPr>
          <p:nvPr/>
        </p:nvSpPr>
        <p:spPr bwMode="auto">
          <a:xfrm>
            <a:off x="152400" y="609600"/>
            <a:ext cx="9144000" cy="922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/>
            </a:r>
            <a:br>
              <a:rPr kumimoji="1" lang="ko-KR" altLang="ko-KR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</a:b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6" name="Rectangle 28"/>
          <p:cNvSpPr>
            <a:spLocks noChangeArrowheads="1"/>
          </p:cNvSpPr>
          <p:nvPr/>
        </p:nvSpPr>
        <p:spPr bwMode="auto">
          <a:xfrm>
            <a:off x="152400" y="609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7" name="Rectangle 29"/>
          <p:cNvSpPr>
            <a:spLocks noChangeArrowheads="1"/>
          </p:cNvSpPr>
          <p:nvPr/>
        </p:nvSpPr>
        <p:spPr bwMode="auto">
          <a:xfrm>
            <a:off x="152400" y="609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/>
        </p:nvGraphicFramePr>
        <p:xfrm>
          <a:off x="372745" y="5085080"/>
          <a:ext cx="4199255" cy="13684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363980"/>
                <a:gridCol w="2835275"/>
              </a:tblGrid>
              <a:tr h="456565"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sz="900" kern="100" b="1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문서관리번호</a:t>
                      </a:r>
                      <a:endParaRPr lang="ko-KR" altLang="en-US" sz="900" kern="100" b="1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  <a:cs typeface="+mn-cs"/>
                      </a:endParaRPr>
                    </a:p>
                  </a:txBody>
                  <a:tcPr marL="64770" marR="64770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900" kern="100" b="1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DDIT-16-B12</a:t>
                      </a:r>
                      <a:endParaRPr lang="ko-KR" altLang="en-US" sz="900" kern="100" b="1">
                        <a:solidFill>
                          <a:schemeClr val="dk1"/>
                        </a:solidFill>
                        <a:latin typeface="맑은 고딕" charset="0"/>
                        <a:ea typeface="+mn-ea"/>
                        <a:cs typeface="+mn-cs"/>
                      </a:endParaRPr>
                    </a:p>
                  </a:txBody>
                  <a:tcPr marL="64770" marR="64770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900" kern="10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작</a:t>
                      </a:r>
                      <a:r>
                        <a:rPr lang="ko-KR" altLang="en-US" sz="900" kern="10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900" kern="10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성</a:t>
                      </a:r>
                      <a:r>
                        <a:rPr lang="ko-KR" altLang="en-US" sz="900" kern="10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900" kern="10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일</a:t>
                      </a:r>
                      <a:endParaRPr lang="ko-KR" altLang="en-US" sz="900" kern="10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  <a:cs typeface="+mn-cs"/>
                      </a:endParaRPr>
                    </a:p>
                  </a:txBody>
                  <a:tcPr marL="64770" marR="64770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900" kern="10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202</a:t>
                      </a:r>
                      <a:r>
                        <a:rPr lang="en-US" altLang="ko-KR" sz="900" kern="100">
                          <a:solidFill>
                            <a:schemeClr val="dk1"/>
                          </a:solidFill>
                          <a:latin typeface="맑은 고딕" charset="0"/>
                          <a:ea typeface="+mn-ea"/>
                          <a:cs typeface="+mn-cs"/>
                        </a:rPr>
                        <a:t>6.01.21</a:t>
                      </a:r>
                      <a:endParaRPr lang="ko-KR" altLang="en-US" sz="900" kern="100">
                        <a:solidFill>
                          <a:schemeClr val="dk1"/>
                        </a:solidFill>
                        <a:latin typeface="맑은 고딕" charset="0"/>
                        <a:ea typeface="+mn-ea"/>
                        <a:cs typeface="+mn-cs"/>
                      </a:endParaRPr>
                    </a:p>
                  </a:txBody>
                  <a:tcPr marL="64770" marR="64770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sz="900" kern="10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보</a:t>
                      </a:r>
                      <a:r>
                        <a:rPr lang="en-US" altLang="ko-KR" sz="900" kern="10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      </a:t>
                      </a:r>
                      <a:r>
                        <a:rPr lang="ko-KR" sz="900" kern="10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안</a:t>
                      </a:r>
                      <a:endParaRPr lang="ko-KR" altLang="en-US" sz="900" kern="10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  <a:cs typeface="+mn-cs"/>
                      </a:endParaRPr>
                    </a:p>
                  </a:txBody>
                  <a:tcPr marL="64770" marR="64770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900" kern="100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  <a:cs typeface="+mn-cs"/>
                        </a:rPr>
                        <a:t>일반</a:t>
                      </a:r>
                      <a:endParaRPr lang="ko-KR" altLang="en-US" sz="900" kern="100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  <a:cs typeface="+mn-cs"/>
                      </a:endParaRPr>
                    </a:p>
                  </a:txBody>
                  <a:tcPr marL="64770" marR="64770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116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768985" y="836930"/>
          <a:ext cx="7607300" cy="5527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21335"/>
                <a:gridCol w="847090"/>
                <a:gridCol w="2793365"/>
                <a:gridCol w="3445510"/>
              </a:tblGrid>
              <a:tr h="935990">
                <a:tc gridSpan="4"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2000" kern="100" b="1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000" kern="100" b="1">
                          <a:solidFill>
                            <a:schemeClr val="tx1"/>
                          </a:solidFill>
                        </a:rPr>
                      </a:br>
                      <a:r>
                        <a:rPr lang="ko-KR" sz="2000" kern="100" b="1">
                          <a:solidFill>
                            <a:schemeClr val="tx1"/>
                          </a:solidFill>
                        </a:rPr>
                        <a:t>문서</a:t>
                      </a:r>
                      <a:r>
                        <a:rPr lang="en-US" altLang="ko-KR" sz="2000" kern="1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sz="2000" kern="100" b="1">
                          <a:solidFill>
                            <a:schemeClr val="tx1"/>
                          </a:solidFill>
                        </a:rPr>
                        <a:t>개정</a:t>
                      </a:r>
                      <a:r>
                        <a:rPr lang="en-US" altLang="ko-KR" sz="2000" kern="1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sz="2000" kern="100" b="1">
                          <a:solidFill>
                            <a:schemeClr val="tx1"/>
                          </a:solidFill>
                        </a:rPr>
                        <a:t>이력표</a:t>
                      </a:r>
                      <a:endParaRPr lang="ko-KR" altLang="en-US" sz="2000" kern="100" b="1">
                        <a:solidFill>
                          <a:schemeClr val="tx1"/>
                        </a:solidFill>
                      </a:endParaRPr>
                    </a:p>
                  </a:txBody>
                  <a:tcPr marL="58419" marR="58419" marT="0" marB="0" anchor="ctr"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88290">
                <a:tc gridSpan="2"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sz="1100" kern="100">
                          <a:solidFill>
                            <a:schemeClr val="tx1"/>
                          </a:solidFill>
                        </a:rPr>
                        <a:t>문서명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</a:txBody>
                  <a:tcPr marL="58419" marR="58419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gridSpan="2">
                  <a:txBody>
                    <a:bodyPr/>
                    <a:lstStyle/>
                    <a:p>
                      <a:pPr marL="0" indent="0" algn="just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100" kern="100">
                          <a:solidFill>
                            <a:schemeClr val="tx1"/>
                          </a:solidFill>
                          <a:latin typeface="바탕" charset="0"/>
                          <a:cs typeface="Times New Roman" charset="0"/>
                        </a:rPr>
                        <a:t>화면정의서</a:t>
                      </a:r>
                      <a:endParaRPr lang="ko-KR" altLang="en-US" sz="1100" kern="100">
                        <a:solidFill>
                          <a:schemeClr val="tx1"/>
                        </a:solidFill>
                        <a:latin typeface="바탕" charset="0"/>
                        <a:cs typeface="Times New Roman" charset="0"/>
                      </a:endParaRPr>
                    </a:p>
                  </a:txBody>
                  <a:tcPr marL="58419" marR="58419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60045"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sz="1100" kern="100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</a:txBody>
                  <a:tcPr marL="58419" marR="58419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sz="1100" kern="100">
                          <a:solidFill>
                            <a:schemeClr val="tx1"/>
                          </a:solidFill>
                        </a:rPr>
                        <a:t>날짜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</a:txBody>
                  <a:tcPr marL="58419" marR="58419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sz="1100" kern="10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</a:txBody>
                  <a:tcPr marL="58419" marR="58419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sz="1100" kern="10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</a:txBody>
                  <a:tcPr marL="58419" marR="58419" marT="0" marB="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2715"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</a:rPr>
                        <a:t> 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</a:txBody>
                  <a:tcPr marL="58419" marR="58419" marT="0" marB="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</a:rPr>
                        <a:t>2021.11.01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</a:rPr>
                        <a:t> 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</a:txBody>
                  <a:tcPr marL="58419" marR="58419" marT="0" marB="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sz="1100" kern="100">
                          <a:solidFill>
                            <a:schemeClr val="tx1"/>
                          </a:solidFill>
                        </a:rPr>
                        <a:t>최초 작성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  <a:p>
                      <a:pPr marL="0" indent="0" algn="just" latinLnBrk="1" lvl="1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</a:rPr>
                        <a:t> </a:t>
                      </a:r>
                      <a:endParaRPr lang="ko-KR" altLang="en-US" sz="1100" kern="100">
                        <a:solidFill>
                          <a:schemeClr val="tx1"/>
                        </a:solidFill>
                      </a:endParaRPr>
                    </a:p>
                  </a:txBody>
                  <a:tcPr marL="58419" marR="58419" marT="0" marB="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spcAft>
                          <a:spcPts val="0"/>
                        </a:spcAft>
                        <a:buFontTx/>
                        <a:buNone/>
                      </a:pPr>
                      <a:endParaRPr lang="ko-KR" altLang="en-US" sz="1100" kern="100">
                        <a:solidFill>
                          <a:schemeClr val="tx1"/>
                        </a:solidFill>
                        <a:latin typeface="바탕" charset="0"/>
                        <a:cs typeface="Times New Roman" charset="0"/>
                      </a:endParaRPr>
                    </a:p>
                  </a:txBody>
                  <a:tcPr marL="58419" marR="58419" marT="0" marB="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74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840204"/>
              </p:ext>
            </p:extLst>
          </p:nvPr>
        </p:nvGraphicFramePr>
        <p:xfrm>
          <a:off x="0" y="0"/>
          <a:ext cx="6372198" cy="8678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2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1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0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b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메인 화면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</a:t>
                      </a:r>
                      <a:r>
                        <a:rPr lang="en-US" altLang="ko-KR" sz="1100" b="1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ID</a:t>
                      </a:r>
                      <a:endParaRPr lang="ko-KR" altLang="en-US" sz="1100" b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b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21101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</a:t>
                      </a:r>
                      <a:r>
                        <a:rPr lang="en-US" altLang="ko-KR" sz="1100" b="1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Path</a:t>
                      </a:r>
                      <a:endParaRPr lang="ko-KR" altLang="en-US" sz="11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프로젝트 공고 화면</a:t>
                      </a:r>
                      <a:endParaRPr lang="ko-KR" altLang="en-US" sz="11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메인 페이지 및 좌측 메뉴 설명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144913"/>
              </p:ext>
            </p:extLst>
          </p:nvPr>
        </p:nvGraphicFramePr>
        <p:xfrm>
          <a:off x="6443663" y="3096"/>
          <a:ext cx="2615952" cy="614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4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</a:t>
                      </a:r>
                      <a:r>
                        <a:rPr lang="en-US" altLang="ko-KR" sz="11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Description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메인 화면 상단 메뉴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</a:t>
                      </a:r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버튼</a:t>
                      </a:r>
                      <a:endParaRPr lang="en-US" altLang="ko-KR" sz="8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프로젝트 공고 통합 검색 </a:t>
                      </a:r>
                      <a:endParaRPr lang="en-US" altLang="ko-KR" sz="8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프로젝트 공고 직무 필터 </a:t>
                      </a:r>
                      <a:endParaRPr lang="en-US" altLang="ko-KR" sz="8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모집중인 프로젝트 리스트</a:t>
                      </a:r>
                      <a:endParaRPr lang="en-US" altLang="ko-KR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사이트 활동가 순위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103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407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12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22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5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6303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모집중인 프로젝트 공고와 </a:t>
                      </a:r>
                      <a:r>
                        <a:rPr lang="en-US" altLang="ko-KR" sz="8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iteams</a:t>
                      </a:r>
                      <a:r>
                        <a:rPr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활동가 순위를 </a:t>
                      </a:r>
                      <a:endParaRPr lang="en-US" altLang="ko-KR" sz="8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확인 할 수 있고</a:t>
                      </a:r>
                      <a:r>
                        <a:rPr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</a:t>
                      </a:r>
                      <a:r>
                        <a:rPr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회원가입을 진행할 수 </a:t>
                      </a:r>
                      <a:r>
                        <a:rPr lang="ko-KR" altLang="en-US" sz="8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있는화면</a:t>
                      </a:r>
                      <a:r>
                        <a:rPr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이다</a:t>
                      </a:r>
                      <a:r>
                        <a:rPr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.</a:t>
                      </a:r>
                      <a:endParaRPr lang="en-US" altLang="ko-KR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" y="912371"/>
            <a:ext cx="6363885" cy="5973013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grpSp>
        <p:nvGrpSpPr>
          <p:cNvPr id="104" name="그룹 103"/>
          <p:cNvGrpSpPr/>
          <p:nvPr/>
        </p:nvGrpSpPr>
        <p:grpSpPr>
          <a:xfrm>
            <a:off x="2720157" y="863607"/>
            <a:ext cx="240772" cy="215444"/>
            <a:chOff x="292829" y="1695755"/>
            <a:chExt cx="240772" cy="215444"/>
          </a:xfrm>
        </p:grpSpPr>
        <p:sp>
          <p:nvSpPr>
            <p:cNvPr id="105" name="타원 104"/>
            <p:cNvSpPr/>
            <p:nvPr/>
          </p:nvSpPr>
          <p:spPr>
            <a:xfrm>
              <a:off x="324713" y="1719603"/>
              <a:ext cx="167768" cy="16776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92829" y="1695755"/>
              <a:ext cx="2407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smtClean="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998495" y="1602485"/>
            <a:ext cx="240772" cy="215444"/>
            <a:chOff x="292829" y="1695755"/>
            <a:chExt cx="240772" cy="215444"/>
          </a:xfrm>
        </p:grpSpPr>
        <p:sp>
          <p:nvSpPr>
            <p:cNvPr id="111" name="타원 110"/>
            <p:cNvSpPr/>
            <p:nvPr/>
          </p:nvSpPr>
          <p:spPr>
            <a:xfrm>
              <a:off x="324713" y="1719603"/>
              <a:ext cx="167768" cy="16776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92829" y="1695755"/>
              <a:ext cx="2407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683568" y="2187514"/>
            <a:ext cx="240772" cy="215444"/>
            <a:chOff x="292829" y="1695755"/>
            <a:chExt cx="240772" cy="215444"/>
          </a:xfrm>
        </p:grpSpPr>
        <p:sp>
          <p:nvSpPr>
            <p:cNvPr id="114" name="타원 113"/>
            <p:cNvSpPr/>
            <p:nvPr/>
          </p:nvSpPr>
          <p:spPr>
            <a:xfrm>
              <a:off x="324713" y="1719603"/>
              <a:ext cx="167768" cy="16776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292829" y="1695755"/>
              <a:ext cx="2407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smtClean="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899592" y="2537721"/>
            <a:ext cx="240772" cy="215444"/>
            <a:chOff x="292829" y="1695755"/>
            <a:chExt cx="240772" cy="215444"/>
          </a:xfrm>
        </p:grpSpPr>
        <p:sp>
          <p:nvSpPr>
            <p:cNvPr id="117" name="타원 116"/>
            <p:cNvSpPr/>
            <p:nvPr/>
          </p:nvSpPr>
          <p:spPr>
            <a:xfrm>
              <a:off x="324713" y="1719603"/>
              <a:ext cx="167768" cy="16776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292829" y="1695755"/>
              <a:ext cx="2407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smtClean="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6" name="그룹 145"/>
          <p:cNvGrpSpPr/>
          <p:nvPr/>
        </p:nvGrpSpPr>
        <p:grpSpPr>
          <a:xfrm>
            <a:off x="917234" y="5445804"/>
            <a:ext cx="240772" cy="215444"/>
            <a:chOff x="292829" y="1695755"/>
            <a:chExt cx="240772" cy="215444"/>
          </a:xfrm>
        </p:grpSpPr>
        <p:sp>
          <p:nvSpPr>
            <p:cNvPr id="147" name="타원 146"/>
            <p:cNvSpPr/>
            <p:nvPr/>
          </p:nvSpPr>
          <p:spPr>
            <a:xfrm>
              <a:off x="324713" y="1719603"/>
              <a:ext cx="167768" cy="16776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292829" y="1695755"/>
              <a:ext cx="2407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4288985" y="881537"/>
            <a:ext cx="240772" cy="215444"/>
            <a:chOff x="292829" y="1695755"/>
            <a:chExt cx="240772" cy="215444"/>
          </a:xfrm>
        </p:grpSpPr>
        <p:sp>
          <p:nvSpPr>
            <p:cNvPr id="150" name="타원 149"/>
            <p:cNvSpPr/>
            <p:nvPr/>
          </p:nvSpPr>
          <p:spPr>
            <a:xfrm>
              <a:off x="324713" y="1719603"/>
              <a:ext cx="167768" cy="16776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92829" y="1695755"/>
              <a:ext cx="2407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smtClean="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072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</a:t>
                      </a: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</a:t>
                      </a: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872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</a:t>
                      </a: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463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300" cy="215265"/>
            <a:chOff x="5563235" y="5790565"/>
            <a:chExt cx="241300" cy="215265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300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8" name="그룹 9"/>
          <p:cNvGrpSpPr>
            <a:grpSpLocks/>
          </p:cNvGrpSpPr>
          <p:nvPr/>
        </p:nvGrpSpPr>
        <p:grpSpPr>
          <a:xfrm rot="0">
            <a:off x="133985" y="6012815"/>
            <a:ext cx="241300" cy="215265"/>
            <a:chOff x="133985" y="6012815"/>
            <a:chExt cx="241300" cy="215265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165735" y="603631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133985" y="6012815"/>
              <a:ext cx="241300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39395" cy="215265"/>
            <a:chOff x="2132965" y="6003290"/>
            <a:chExt cx="239395" cy="215265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1805305" y="6021705"/>
            <a:ext cx="239395" cy="215265"/>
            <a:chOff x="1805305" y="6021705"/>
            <a:chExt cx="239395" cy="215265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1837055" y="604520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1805305" y="602170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39395" cy="215265"/>
            <a:chOff x="2599690" y="6009005"/>
            <a:chExt cx="239395" cy="215265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4800" cy="215265"/>
            <a:chOff x="3281680" y="6006465"/>
            <a:chExt cx="304800" cy="215265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4800" cy="21526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39395" cy="215265"/>
            <a:chOff x="2977515" y="6012180"/>
            <a:chExt cx="239395" cy="215265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481965" y="6011545"/>
            <a:ext cx="239395" cy="215265"/>
            <a:chOff x="481965" y="6011545"/>
            <a:chExt cx="239395" cy="215265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513715" y="603504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481965" y="601154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838200" y="6012815"/>
            <a:ext cx="239395" cy="215265"/>
            <a:chOff x="838200" y="6012815"/>
            <a:chExt cx="239395" cy="215265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869950" y="603631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838200" y="601281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1468120" y="6012815"/>
            <a:ext cx="239395" cy="215265"/>
            <a:chOff x="1468120" y="6012815"/>
            <a:chExt cx="239395" cy="215265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1499870" y="603631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1468120" y="601281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1138555" y="6012815"/>
            <a:ext cx="239395" cy="215265"/>
            <a:chOff x="1138555" y="6012815"/>
            <a:chExt cx="239395" cy="215265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1170305" y="603631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1138555" y="601281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메인화면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</a:t>
                      </a: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</a:t>
                      </a: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메인 화면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메인 페이지 및 각종 기능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872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</a:t>
                      </a: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메인 페이지로 이동하는 로고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로그인, 로그아웃 등 각종 회원관련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이미지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화물 진행정보 서치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수출 이행내역 서치필드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환율정보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특정페이지 서치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공지사항 리스트 카드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행정예고 리스트 카드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민원사항 리스트 카드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463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메인 화면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pic>
        <p:nvPicPr>
          <p:cNvPr id="107" name="그림 6" descr="/temp/fImage49619387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4620" y="1168400"/>
            <a:ext cx="6096635" cy="2943860"/>
          </a:xfrm>
          <a:prstGeom prst="rect"/>
          <a:noFill/>
        </p:spPr>
      </p:pic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300" cy="215900"/>
            <a:chOff x="5563235" y="5790565"/>
            <a:chExt cx="241300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30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8" name="그룹 9"/>
          <p:cNvGrpSpPr>
            <a:grpSpLocks/>
          </p:cNvGrpSpPr>
          <p:nvPr/>
        </p:nvGrpSpPr>
        <p:grpSpPr>
          <a:xfrm rot="0">
            <a:off x="452755" y="1057275"/>
            <a:ext cx="241300" cy="215265"/>
            <a:chOff x="452755" y="1057275"/>
            <a:chExt cx="241300" cy="215265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484505" y="108077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452755" y="1057275"/>
              <a:ext cx="241300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1494790" y="2426970"/>
            <a:ext cx="239395" cy="215265"/>
            <a:chOff x="1494790" y="2426970"/>
            <a:chExt cx="239395" cy="215265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1526540" y="245046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1494790" y="242697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2540" y="2136140"/>
            <a:ext cx="239395" cy="215265"/>
            <a:chOff x="2540" y="2136140"/>
            <a:chExt cx="239395" cy="215265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34290" y="215963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2540" y="213614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1435735" y="3005455"/>
            <a:ext cx="239395" cy="215265"/>
            <a:chOff x="1435735" y="3005455"/>
            <a:chExt cx="239395" cy="215265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1467485" y="302895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1435735" y="300545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891914" y="3002915"/>
            <a:ext cx="304800" cy="215265"/>
            <a:chOff x="3891914" y="3002915"/>
            <a:chExt cx="304800" cy="215265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951605" y="302641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891914" y="3002915"/>
              <a:ext cx="304800" cy="21526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649220" y="3008630"/>
            <a:ext cx="239395" cy="215265"/>
            <a:chOff x="2649220" y="3008630"/>
            <a:chExt cx="239395" cy="215265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2680970" y="303212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649220" y="300863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5043805" y="1056005"/>
            <a:ext cx="239395" cy="215265"/>
            <a:chOff x="5043805" y="1056005"/>
            <a:chExt cx="239395" cy="215265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5075555" y="107950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5043805" y="105600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1035050" y="1563370"/>
            <a:ext cx="239395" cy="215265"/>
            <a:chOff x="1035050" y="1563370"/>
            <a:chExt cx="239395" cy="215265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1066800" y="158686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1035050" y="156337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4039235" y="1769745"/>
            <a:ext cx="239395" cy="215265"/>
            <a:chOff x="4039235" y="1769745"/>
            <a:chExt cx="239395" cy="215265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4070985" y="179324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4039235" y="176974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4095750" y="1347470"/>
            <a:ext cx="239395" cy="215265"/>
            <a:chOff x="4095750" y="1347470"/>
            <a:chExt cx="239395" cy="215265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4127500" y="137096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4095750" y="134747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</a:t>
                      </a: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SS-RC-02-00-01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</a:t>
                      </a: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화면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페이지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872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아이디, 비밀번호 입력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메인 페이지 이동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ID 찾기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PW 찾기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463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300" cy="215265"/>
            <a:chOff x="5563235" y="5790565"/>
            <a:chExt cx="241300" cy="215265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300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21690" y="1094740"/>
            <a:ext cx="4553585" cy="3429635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1785620" y="2699385"/>
            <a:ext cx="241300" cy="215265"/>
            <a:chOff x="1785620" y="2699385"/>
            <a:chExt cx="241300" cy="215265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1817370" y="272288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1785620" y="2699385"/>
              <a:ext cx="241300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39395" cy="215265"/>
            <a:chOff x="2132965" y="6003290"/>
            <a:chExt cx="239395" cy="215265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3288030" y="3609340"/>
            <a:ext cx="239395" cy="215265"/>
            <a:chOff x="3288030" y="3609340"/>
            <a:chExt cx="239395" cy="215265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3319780" y="363283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3288030" y="360934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39395" cy="215265"/>
            <a:chOff x="2599690" y="6009005"/>
            <a:chExt cx="239395" cy="215265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4800" cy="215265"/>
            <a:chOff x="3281680" y="6006465"/>
            <a:chExt cx="304800" cy="215265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4800" cy="21526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39395" cy="215265"/>
            <a:chOff x="2977515" y="6012180"/>
            <a:chExt cx="239395" cy="215265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2922270" y="2707640"/>
            <a:ext cx="239395" cy="215265"/>
            <a:chOff x="2922270" y="2707640"/>
            <a:chExt cx="239395" cy="215265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2954020" y="273113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2922270" y="270764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4573905" y="990600"/>
            <a:ext cx="239395" cy="215265"/>
            <a:chOff x="4573905" y="990600"/>
            <a:chExt cx="239395" cy="215265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4605655" y="101409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4573905" y="99060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2800350" y="3582035"/>
            <a:ext cx="239395" cy="215265"/>
            <a:chOff x="2800350" y="3582035"/>
            <a:chExt cx="239395" cy="215265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2832100" y="3605530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2800350" y="3582035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2377440" y="3478530"/>
            <a:ext cx="239395" cy="215265"/>
            <a:chOff x="2377440" y="3478530"/>
            <a:chExt cx="239395" cy="215265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2409190" y="3502025"/>
              <a:ext cx="168275" cy="168275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2377440" y="3478530"/>
              <a:ext cx="239395" cy="215265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수입신고서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수입신고서 작성 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수입신고서 작성 페이지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872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신고서 제출에 필요한 입력자료 전환태그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신고서 입력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 정보 및 각종 기능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홈페이지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신고서 전송 버튼 및 취소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사이드메뉴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463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수입신고서 작성페이지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1" descr="/temp/fImage39344290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0165" y="1009650"/>
            <a:ext cx="6276975" cy="2999105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556260" y="1009650"/>
            <a:ext cx="241935" cy="215900"/>
            <a:chOff x="556260" y="1009650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588010" y="103314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556260" y="1009650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40030" cy="215900"/>
            <a:chOff x="2132965" y="6003290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162560" y="1976119"/>
            <a:ext cx="240030" cy="215900"/>
            <a:chOff x="162560" y="1976119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194310" y="199961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162560" y="1976119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556895" y="1411605"/>
            <a:ext cx="240030" cy="215900"/>
            <a:chOff x="556895" y="1411605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588645" y="14351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556895" y="14116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5240655" y="906145"/>
            <a:ext cx="240030" cy="215900"/>
            <a:chOff x="5240655" y="906145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5272405" y="92964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5240655" y="90614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3185795" y="3722370"/>
            <a:ext cx="240030" cy="215900"/>
            <a:chOff x="3185795" y="3722370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3217545" y="374586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3185795" y="372237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115570" y="906145"/>
            <a:ext cx="240030" cy="215900"/>
            <a:chOff x="115570" y="906145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147320" y="92964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115570" y="90614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수출신고서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수출신고서 입력페이지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수출신고서 입력페이지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91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수출신고서 필요 자료 입력 전환 태그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 정보 및 각종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수출신고서 입력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사이드바 메뉴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미리보기 임시저장 일괄저장 전송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6035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수출신고서 작성 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2" descr="/temp/fImage29844326296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1114" y="1000125"/>
            <a:ext cx="6296025" cy="3009265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603250" y="1206500"/>
            <a:ext cx="241935" cy="215900"/>
            <a:chOff x="603250" y="1206500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635000" y="122999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603250" y="1206500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40030" cy="215900"/>
            <a:chOff x="2132965" y="6003290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5391150" y="3646805"/>
            <a:ext cx="240030" cy="215900"/>
            <a:chOff x="5391150" y="3646805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5422900" y="36703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5391150" y="36468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5438140" y="914400"/>
            <a:ext cx="240030" cy="215900"/>
            <a:chOff x="5438140" y="914400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5469890" y="93789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5438140" y="91440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1092200" y="1459865"/>
            <a:ext cx="240030" cy="215900"/>
            <a:chOff x="1092200" y="1459865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1123950" y="14833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1092200" y="145986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153670" y="1807210"/>
            <a:ext cx="240030" cy="215900"/>
            <a:chOff x="153670" y="1807210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185420" y="183070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153670" y="180721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153035" y="896620"/>
            <a:ext cx="240030" cy="215900"/>
            <a:chOff x="153035" y="896620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184785" y="92011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153035" y="89662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대시보드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대시보드 공통규격 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Ex) 관리자 대시보드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872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회원의 짧은 정보와 금일 주요정보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각종 정보 카드 형태로 출력하는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 정보 및 각종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사이드바 메뉴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463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대시보드 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3" descr="/temp/fImage3324036669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0640" y="1005205"/>
            <a:ext cx="6276975" cy="2947035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603250" y="1103630"/>
            <a:ext cx="241935" cy="215900"/>
            <a:chOff x="603250" y="1103630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635000" y="112712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603250" y="1103630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40030" cy="215900"/>
            <a:chOff x="2132965" y="6003290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1805305" y="6021705"/>
            <a:ext cx="240030" cy="215900"/>
            <a:chOff x="1805305" y="6021705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1837055" y="60452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1805305" y="60217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3288665" y="1899920"/>
            <a:ext cx="240030" cy="215900"/>
            <a:chOff x="3288665" y="1899920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3320415" y="192341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3288665" y="189992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5240655" y="896620"/>
            <a:ext cx="240030" cy="215900"/>
            <a:chOff x="5240655" y="896620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5272405" y="92011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5240655" y="89662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172720" y="1788795"/>
            <a:ext cx="240030" cy="215900"/>
            <a:chOff x="172720" y="1788795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204470" y="181229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172720" y="178879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237490" y="896620"/>
            <a:ext cx="240030" cy="215900"/>
            <a:chOff x="237490" y="896620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269240" y="92011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237490" y="89662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회원상세페이지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회원상세페이지 공통규격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회원상세페이지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91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회원정보 간략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 정보 전환 태그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회원정보 상세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회원정보 간략출력 필드 및 각종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사이드바 메뉴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회원정보 수정 관리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6035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회원상세페이지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4" descr="/temp/fImage26931402995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690" y="1009650"/>
            <a:ext cx="6323965" cy="2980690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725170" y="1263015"/>
            <a:ext cx="241935" cy="215900"/>
            <a:chOff x="725170" y="1263015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756920" y="128651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725170" y="126301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725170" y="2896235"/>
            <a:ext cx="240030" cy="215900"/>
            <a:chOff x="725170" y="2896235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756920" y="291973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725170" y="289623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143510" y="1778635"/>
            <a:ext cx="240030" cy="215900"/>
            <a:chOff x="143510" y="1778635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175260" y="180213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143510" y="177863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1636395" y="1102360"/>
            <a:ext cx="240030" cy="215900"/>
            <a:chOff x="1636395" y="1102360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1668145" y="112585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1636395" y="110236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2377440" y="1563370"/>
            <a:ext cx="240030" cy="215900"/>
            <a:chOff x="2377440" y="1563370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2409190" y="158686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2377440" y="156337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238125" y="906145"/>
            <a:ext cx="240030" cy="215900"/>
            <a:chOff x="238125" y="906145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269875" y="92964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238125" y="90614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5728970" y="906145"/>
            <a:ext cx="240030" cy="215900"/>
            <a:chOff x="5728970" y="906145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5760720" y="92964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5728970" y="90614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유형 선택 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유형 선택 페이지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91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회원정보 및 각종 아이콘 출력필드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 구분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 구분 선택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6035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유형 선택 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5" descr="/temp/fImage35707438758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690" y="1000125"/>
            <a:ext cx="6323965" cy="2962275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218440" y="896620"/>
            <a:ext cx="241935" cy="215900"/>
            <a:chOff x="218440" y="896620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250190" y="92011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218440" y="896620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40030" cy="215900"/>
            <a:chOff x="2132965" y="6003290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1805305" y="6021705"/>
            <a:ext cx="240030" cy="215900"/>
            <a:chOff x="1805305" y="6021705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1837055" y="60452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1805305" y="60217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5804535" y="904875"/>
            <a:ext cx="240030" cy="215900"/>
            <a:chOff x="5804535" y="904875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5836285" y="92837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5804535" y="90487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1889760" y="1535430"/>
            <a:ext cx="240030" cy="215900"/>
            <a:chOff x="1889760" y="1535430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1921509" y="155892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1889760" y="153543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1468120" y="6012815"/>
            <a:ext cx="240030" cy="215900"/>
            <a:chOff x="1468120" y="6012815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1499870" y="603631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1468120" y="601281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2865755" y="2267585"/>
            <a:ext cx="240030" cy="215900"/>
            <a:chOff x="2865755" y="2267585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2897505" y="229108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2865755" y="226758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약관동의 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약관동의 페이지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91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상태 or 로그인 정보 간략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회원가입단계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약관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약관 동의 체크박스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다음 / 취소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6035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약관동의 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6" descr="/temp/fImage43710474485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0640" y="1024254"/>
            <a:ext cx="6361430" cy="2985135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208915" y="915670"/>
            <a:ext cx="241935" cy="215900"/>
            <a:chOff x="208915" y="915670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240665" y="93916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208915" y="915670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40030" cy="215900"/>
            <a:chOff x="2132965" y="6003290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3100705" y="3580765"/>
            <a:ext cx="240030" cy="215900"/>
            <a:chOff x="3100705" y="3580765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3132455" y="36042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3100705" y="358076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5804535" y="914400"/>
            <a:ext cx="240030" cy="215900"/>
            <a:chOff x="5804535" y="914400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5836285" y="93789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5804535" y="91440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1805305" y="1422400"/>
            <a:ext cx="240030" cy="215900"/>
            <a:chOff x="1805305" y="1422400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1837055" y="144589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1805305" y="142240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4152900" y="2305050"/>
            <a:ext cx="240030" cy="215900"/>
            <a:chOff x="4152900" y="2305050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4184650" y="232854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4152900" y="230505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2978150" y="1938655"/>
            <a:ext cx="240030" cy="215900"/>
            <a:chOff x="2978150" y="1938655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3009900" y="196215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2978150" y="193865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사업자등록번호 확인 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사업자등록번호 확인 페이지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91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단계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상태 or 회원정보 간략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필요 정보 입력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이전/다음 이동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6035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사업자등록번호 확인 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7" descr="/temp/fImage15831510775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690" y="930275"/>
            <a:ext cx="6323965" cy="2947670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1804670" y="1300480"/>
            <a:ext cx="241935" cy="215900"/>
            <a:chOff x="1804670" y="1300480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1836420" y="13239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1804670" y="1300480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40030" cy="215900"/>
            <a:chOff x="2132965" y="6003290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1805305" y="6021705"/>
            <a:ext cx="240030" cy="215900"/>
            <a:chOff x="1805305" y="6021705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1837055" y="60452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1805305" y="60217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5804535" y="829945"/>
            <a:ext cx="240030" cy="215900"/>
            <a:chOff x="5804535" y="829945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5836285" y="85344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5804535" y="82994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2255520" y="1619885"/>
            <a:ext cx="240030" cy="215900"/>
            <a:chOff x="2255520" y="1619885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2287270" y="164338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2255520" y="161988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4086859" y="1891665"/>
            <a:ext cx="240030" cy="215900"/>
            <a:chOff x="4086859" y="1891665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4118610" y="19151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4086859" y="189166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209550" y="821690"/>
            <a:ext cx="240030" cy="215900"/>
            <a:chOff x="209550" y="821690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241300" y="8451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209550" y="8216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기업 회원 업체정보 입력 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기업 회원 업체정보 입력 페이지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91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단계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필요 정보 입력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상태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약관 내용 및 동의 체크박스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이전 / 다음 이동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6035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기업 회원 업체정보 입력 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9" descr="/temp/fImage29670582670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8105" y="1102995"/>
            <a:ext cx="6296025" cy="2418080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1804670" y="1235075"/>
            <a:ext cx="241935" cy="215900"/>
            <a:chOff x="1804670" y="1235075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1836420" y="125857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1804670" y="123507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40030" cy="215900"/>
            <a:chOff x="2132965" y="6003290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4255135" y="3308985"/>
            <a:ext cx="240030" cy="215900"/>
            <a:chOff x="4255135" y="3308985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4286885" y="333248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4255135" y="330898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2209165" y="1815465"/>
            <a:ext cx="240030" cy="215900"/>
            <a:chOff x="2209165" y="1815465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2240915" y="1838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2209165" y="181546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5803900" y="1000125"/>
            <a:ext cx="240030" cy="215900"/>
            <a:chOff x="5803900" y="1000125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5835650" y="102362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5803900" y="100012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4312285" y="2736850"/>
            <a:ext cx="240030" cy="215900"/>
            <a:chOff x="4312285" y="2736850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4344035" y="276034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4312285" y="273685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237490" y="990599"/>
            <a:ext cx="240030" cy="215900"/>
            <a:chOff x="237490" y="990599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269240" y="101409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237490" y="990599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872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단계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필요 정보 입력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상태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약관동의 내용 및 체크박스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다음 / 취소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463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8" descr="/temp/fImage29754546362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690" y="1047115"/>
            <a:ext cx="6323965" cy="2942590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1804670" y="1196975"/>
            <a:ext cx="241935" cy="215900"/>
            <a:chOff x="1804670" y="1196975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1836420" y="122047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1804670" y="119697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40030" cy="215900"/>
            <a:chOff x="2132965" y="6003290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3100705" y="3374390"/>
            <a:ext cx="240030" cy="215900"/>
            <a:chOff x="3100705" y="3374390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3132455" y="33978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3100705" y="33743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1758315" y="2021840"/>
            <a:ext cx="240030" cy="215900"/>
            <a:chOff x="1758315" y="2021840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1790065" y="204533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1758315" y="202184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5803900" y="981075"/>
            <a:ext cx="240030" cy="215900"/>
            <a:chOff x="5803900" y="981075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5835650" y="100457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5803900" y="98107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4396740" y="3084195"/>
            <a:ext cx="240030" cy="215900"/>
            <a:chOff x="4396740" y="3084195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4428490" y="310769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4396740" y="308419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209550" y="943610"/>
            <a:ext cx="240030" cy="215900"/>
            <a:chOff x="209550" y="943610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241300" y="967104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209550" y="94361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부호 및 서비스 신청 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부호 및 서비스 신청 페이지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91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단계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필요 정보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유형선택 드롭박스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필요 사항 선택 체크 박스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이전 / 다음 이동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상태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6035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부호 및 서비스 신청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10" descr="/temp/fImage5306661845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690" y="967104"/>
            <a:ext cx="6333490" cy="3051175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2011680" y="1066165"/>
            <a:ext cx="241935" cy="215900"/>
            <a:chOff x="2011680" y="1066165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2043429" y="10896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2011680" y="10661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27330" y="859155"/>
            <a:ext cx="240030" cy="215900"/>
            <a:chOff x="227330" y="859155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59080" y="88265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27330" y="85915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5860415" y="868045"/>
            <a:ext cx="240030" cy="215900"/>
            <a:chOff x="5860415" y="868045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5892165" y="89154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5860415" y="86804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2979420" y="1824990"/>
            <a:ext cx="240030" cy="215900"/>
            <a:chOff x="2979420" y="1824990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3011170" y="1848484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2979420" y="18249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2011680" y="2164080"/>
            <a:ext cx="240030" cy="215900"/>
            <a:chOff x="2011680" y="2164080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2043429" y="21875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2011680" y="21640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3101340" y="3722370"/>
            <a:ext cx="240030" cy="215900"/>
            <a:chOff x="3101340" y="3722370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3133090" y="374586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3101340" y="372237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2011680" y="2821305"/>
            <a:ext cx="240030" cy="215900"/>
            <a:chOff x="2011680" y="2821305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2043429" y="28448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2011680" y="28213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회원가입SMS신청페이지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회원가입SMS신청페이지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91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 단계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상태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필요 정보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필요 정보 선택 체크박스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이전 이동 버튼 및 회원가입 완료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6035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회원가입SMS신청페이지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11" descr="/temp/fImage39469654905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690" y="1065530"/>
            <a:ext cx="6333490" cy="3037840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1682750" y="1131570"/>
            <a:ext cx="241935" cy="215900"/>
            <a:chOff x="1682750" y="1131570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1714500" y="115506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1682750" y="1131570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132965" y="6003290"/>
            <a:ext cx="240030" cy="215900"/>
            <a:chOff x="2132965" y="6003290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2164715" y="60267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132965" y="60032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3044190" y="3768725"/>
            <a:ext cx="240030" cy="215900"/>
            <a:chOff x="3044190" y="3768725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3075940" y="379222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3044190" y="376872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5804535" y="961390"/>
            <a:ext cx="240030" cy="215900"/>
            <a:chOff x="5804535" y="961390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5836285" y="98488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5804535" y="96139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2527935" y="1704340"/>
            <a:ext cx="240030" cy="215900"/>
            <a:chOff x="2527935" y="1704340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2559685" y="172783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2527935" y="170434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247649" y="953135"/>
            <a:ext cx="240030" cy="215900"/>
            <a:chOff x="247649" y="953135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279400" y="97663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247649" y="95313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1682750" y="1948180"/>
            <a:ext cx="240030" cy="215900"/>
            <a:chOff x="1682750" y="1948180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1714500" y="1971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1682750" y="1948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9321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리스트페이지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sz="1500" kern="1200" i="0" b="1">
                          <a:solidFill>
                            <a:srgbClr val="0F4C81"/>
                          </a:solidFill>
                          <a:latin typeface="Pretendard" charset="0"/>
                          <a:ea typeface="Pretendard" charset="0"/>
                        </a:rPr>
                        <a:t>수입신고 현황/필증 다운로드</a:t>
                      </a:r>
                      <a:r>
                        <a:rPr sz="1500" kern="1200" i="0" b="1">
                          <a:solidFill>
                            <a:srgbClr val="0F4C81"/>
                          </a:solidFill>
                          <a:latin typeface="Pretendard" charset="0"/>
                          <a:ea typeface="Pretendard" charset="0"/>
                        </a:rPr>
                        <a:t> 리스트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219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r>
                        <a:rPr sz="1500" kern="1200" i="0" b="1">
                          <a:solidFill>
                            <a:srgbClr val="0F4C81"/>
                          </a:solidFill>
                          <a:latin typeface="Pretendard" charset="0"/>
                          <a:ea typeface="Pretendard" charset="0"/>
                        </a:rPr>
                        <a:t>수입신고 현황/필증 다운로드</a:t>
                      </a:r>
                      <a:r>
                        <a:rPr sz="1500" kern="1200" i="0" b="1">
                          <a:solidFill>
                            <a:srgbClr val="0F4C81"/>
                          </a:solidFill>
                          <a:latin typeface="Pretendard" charset="0"/>
                          <a:ea typeface="Pretendard" charset="0"/>
                        </a:rPr>
                        <a:t> 리스트 페이지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872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검색조건 입력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조회 및 초기화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선택 체크박스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정보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상태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페이지 선택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상태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사이드바 메뉴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463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수입신고현황/필증다운로드리스트페이지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12" descr="/temp/fImage35810690167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9215" y="1004570"/>
            <a:ext cx="6314440" cy="3004185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1082040" y="1694815"/>
            <a:ext cx="241935" cy="215900"/>
            <a:chOff x="1082040" y="1694815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1113790" y="171831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1082040" y="169481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5325110" y="896620"/>
            <a:ext cx="240030" cy="215900"/>
            <a:chOff x="5325110" y="896620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5356860" y="92011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5325110" y="89662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3438525" y="3430905"/>
            <a:ext cx="240030" cy="215900"/>
            <a:chOff x="3438525" y="3430905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3470275" y="34544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3438525" y="34309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71780" y="902335"/>
            <a:ext cx="200660" cy="215265"/>
            <a:chOff x="271780" y="902335"/>
            <a:chExt cx="200660" cy="215265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303530" y="92583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71780" y="902335"/>
              <a:ext cx="198120" cy="21526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74320" y="2145030"/>
            <a:ext cx="240030" cy="215900"/>
            <a:chOff x="274320" y="214503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6070" y="216852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74320" y="214503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3467100" y="2087880"/>
            <a:ext cx="240030" cy="215900"/>
            <a:chOff x="3467100" y="2087880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3498850" y="21113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3467100" y="20878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904240" y="2501900"/>
            <a:ext cx="240030" cy="215900"/>
            <a:chOff x="904240" y="2501900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935989" y="252539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904240" y="250190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5636260" y="3215640"/>
            <a:ext cx="240030" cy="215900"/>
            <a:chOff x="5636260" y="3215640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5668010" y="323913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5636260" y="321564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2715260" y="2699385"/>
            <a:ext cx="240030" cy="215900"/>
            <a:chOff x="2715260" y="2699385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2747010" y="272288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2715260" y="269938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0" y="0"/>
          <a:ext cx="6370956" cy="8686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1720"/>
                <a:gridCol w="1061720"/>
                <a:gridCol w="1061720"/>
                <a:gridCol w="1313815"/>
                <a:gridCol w="810260"/>
                <a:gridCol w="1061720"/>
              </a:tblGrid>
              <a:tr h="288290"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Page Title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ID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/>
                          </a:solidFill>
                        </a:rPr>
                        <a:t>SS-RC-01-00-01</a:t>
                      </a:r>
                      <a:endParaRPr lang="ko-KR" altLang="en-US" sz="1100" kern="1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Date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2026.01.21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Author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이현규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Screen Path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9019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l" latinLnBrk="1" lvl="1">
                        <a:buFontTx/>
                        <a:buNone/>
                      </a:pP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6443980" y="3175"/>
          <a:ext cx="2615565" cy="4872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2183765"/>
              </a:tblGrid>
              <a:tr h="35052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1100" kern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Detail Description</a:t>
                      </a:r>
                      <a:endParaRPr lang="ko-KR" altLang="en-US" sz="1100" kern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en-US" altLang="ko-KR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검색조건 입력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검색 및 검색조건 초기화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각종 정보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페이지 선택 버튼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로그인 상태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홈화면 이동 아이콘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8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사이드바 메뉴 출력 필드</a:t>
                      </a: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ctr" fontAlgn="auto" defTabSz="914400" eaLnBrk="1" latinLnBrk="1" hangingPunct="1" lvl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1529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r>
                        <a:rPr lang="ko-KR" altLang="en-US" sz="1100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화면 설명</a:t>
                      </a:r>
                      <a:endParaRPr lang="ko-KR" altLang="en-US" sz="11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4630">
                <a:tc gridSpan="2">
                  <a:txBody>
                    <a:bodyPr/>
                    <a:lstStyle/>
                    <a:p>
                      <a:pPr marL="0" indent="0" algn="ctr" latinLnBrk="1" lvl="1">
                        <a:buFontTx/>
                        <a:buNone/>
                      </a:pPr>
                      <a:endParaRPr lang="ko-KR" altLang="en-US" sz="800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  <p:grpSp>
        <p:nvGrpSpPr>
          <p:cNvPr id="104" name="그룹 103"/>
          <p:cNvGrpSpPr>
            <a:grpSpLocks/>
          </p:cNvGrpSpPr>
          <p:nvPr/>
        </p:nvGrpSpPr>
        <p:grpSpPr>
          <a:xfrm rot="0">
            <a:off x="5563235" y="5790565"/>
            <a:ext cx="241935" cy="215900"/>
            <a:chOff x="5563235" y="5790565"/>
            <a:chExt cx="241935" cy="215900"/>
          </a:xfrm>
        </p:grpSpPr>
        <p:sp>
          <p:nvSpPr>
            <p:cNvPr id="105" name="타원 104"/>
            <p:cNvSpPr>
              <a:spLocks/>
            </p:cNvSpPr>
            <p:nvPr/>
          </p:nvSpPr>
          <p:spPr>
            <a:xfrm rot="0">
              <a:off x="5594985" y="58140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06" name="TextBox 105"/>
            <p:cNvSpPr txBox="1">
              <a:spLocks/>
            </p:cNvSpPr>
            <p:nvPr/>
          </p:nvSpPr>
          <p:spPr>
            <a:xfrm rot="0">
              <a:off x="5563235" y="57905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53" name="그림 13" descr="/temp/fImage38540726599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690" y="1000125"/>
            <a:ext cx="6333490" cy="3027680"/>
          </a:xfrm>
          <a:prstGeom prst="rect"/>
          <a:noFill/>
        </p:spPr>
      </p:pic>
      <p:grpSp>
        <p:nvGrpSpPr>
          <p:cNvPr id="108" name="그룹 9"/>
          <p:cNvGrpSpPr>
            <a:grpSpLocks/>
          </p:cNvGrpSpPr>
          <p:nvPr/>
        </p:nvGrpSpPr>
        <p:grpSpPr>
          <a:xfrm rot="0">
            <a:off x="894080" y="1675765"/>
            <a:ext cx="241935" cy="215900"/>
            <a:chOff x="894080" y="1675765"/>
            <a:chExt cx="241935" cy="215900"/>
          </a:xfrm>
        </p:grpSpPr>
        <p:sp>
          <p:nvSpPr>
            <p:cNvPr id="109" name="타원 7"/>
            <p:cNvSpPr>
              <a:spLocks/>
            </p:cNvSpPr>
            <p:nvPr/>
          </p:nvSpPr>
          <p:spPr>
            <a:xfrm rot="0">
              <a:off x="925830" y="16992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0" name="TextBox 8"/>
            <p:cNvSpPr txBox="1">
              <a:spLocks/>
            </p:cNvSpPr>
            <p:nvPr/>
          </p:nvSpPr>
          <p:spPr>
            <a:xfrm rot="0">
              <a:off x="894080" y="1675765"/>
              <a:ext cx="241935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1" name="그룹 12"/>
          <p:cNvGrpSpPr>
            <a:grpSpLocks/>
          </p:cNvGrpSpPr>
          <p:nvPr/>
        </p:nvGrpSpPr>
        <p:grpSpPr>
          <a:xfrm rot="0">
            <a:off x="274320" y="2614295"/>
            <a:ext cx="240030" cy="215900"/>
            <a:chOff x="274320" y="2614295"/>
            <a:chExt cx="240030" cy="215900"/>
          </a:xfrm>
        </p:grpSpPr>
        <p:sp>
          <p:nvSpPr>
            <p:cNvPr id="112" name="타원 10"/>
            <p:cNvSpPr>
              <a:spLocks/>
            </p:cNvSpPr>
            <p:nvPr/>
          </p:nvSpPr>
          <p:spPr>
            <a:xfrm rot="0">
              <a:off x="306070" y="263779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3" name="TextBox 11"/>
            <p:cNvSpPr txBox="1">
              <a:spLocks/>
            </p:cNvSpPr>
            <p:nvPr/>
          </p:nvSpPr>
          <p:spPr>
            <a:xfrm rot="0">
              <a:off x="274320" y="261429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7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4" name="그룹 15"/>
          <p:cNvGrpSpPr>
            <a:grpSpLocks/>
          </p:cNvGrpSpPr>
          <p:nvPr/>
        </p:nvGrpSpPr>
        <p:grpSpPr>
          <a:xfrm rot="0">
            <a:off x="274955" y="905510"/>
            <a:ext cx="240030" cy="215900"/>
            <a:chOff x="274955" y="905510"/>
            <a:chExt cx="240030" cy="215900"/>
          </a:xfrm>
        </p:grpSpPr>
        <p:sp>
          <p:nvSpPr>
            <p:cNvPr id="115" name="타원 13"/>
            <p:cNvSpPr>
              <a:spLocks/>
            </p:cNvSpPr>
            <p:nvPr/>
          </p:nvSpPr>
          <p:spPr>
            <a:xfrm rot="0">
              <a:off x="306705" y="92900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6" name="TextBox 14"/>
            <p:cNvSpPr txBox="1">
              <a:spLocks/>
            </p:cNvSpPr>
            <p:nvPr/>
          </p:nvSpPr>
          <p:spPr>
            <a:xfrm rot="0">
              <a:off x="274955" y="90551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6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17" name="그룹 18"/>
          <p:cNvGrpSpPr>
            <a:grpSpLocks/>
          </p:cNvGrpSpPr>
          <p:nvPr/>
        </p:nvGrpSpPr>
        <p:grpSpPr>
          <a:xfrm rot="0">
            <a:off x="2599690" y="6009005"/>
            <a:ext cx="240030" cy="215900"/>
            <a:chOff x="2599690" y="6009005"/>
            <a:chExt cx="240030" cy="215900"/>
          </a:xfrm>
        </p:grpSpPr>
        <p:sp>
          <p:nvSpPr>
            <p:cNvPr id="118" name="타원 16"/>
            <p:cNvSpPr>
              <a:spLocks/>
            </p:cNvSpPr>
            <p:nvPr/>
          </p:nvSpPr>
          <p:spPr>
            <a:xfrm rot="0">
              <a:off x="2631440" y="603250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19" name="TextBox 17"/>
            <p:cNvSpPr txBox="1">
              <a:spLocks/>
            </p:cNvSpPr>
            <p:nvPr/>
          </p:nvSpPr>
          <p:spPr>
            <a:xfrm rot="0">
              <a:off x="2599690" y="600900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8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0" name="그룹 21"/>
          <p:cNvGrpSpPr>
            <a:grpSpLocks/>
          </p:cNvGrpSpPr>
          <p:nvPr/>
        </p:nvGrpSpPr>
        <p:grpSpPr>
          <a:xfrm rot="0">
            <a:off x="3281680" y="6006465"/>
            <a:ext cx="305435" cy="215900"/>
            <a:chOff x="3281680" y="6006465"/>
            <a:chExt cx="305435" cy="215900"/>
          </a:xfrm>
        </p:grpSpPr>
        <p:sp>
          <p:nvSpPr>
            <p:cNvPr id="121" name="타원 19"/>
            <p:cNvSpPr>
              <a:spLocks/>
            </p:cNvSpPr>
            <p:nvPr/>
          </p:nvSpPr>
          <p:spPr>
            <a:xfrm rot="0">
              <a:off x="3341370" y="602996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2" name="TextBox 20"/>
            <p:cNvSpPr txBox="1">
              <a:spLocks/>
            </p:cNvSpPr>
            <p:nvPr/>
          </p:nvSpPr>
          <p:spPr>
            <a:xfrm rot="0">
              <a:off x="3281680" y="6006465"/>
              <a:ext cx="305435" cy="21590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10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3" name="그룹 24"/>
          <p:cNvGrpSpPr>
            <a:grpSpLocks/>
          </p:cNvGrpSpPr>
          <p:nvPr/>
        </p:nvGrpSpPr>
        <p:grpSpPr>
          <a:xfrm rot="0">
            <a:off x="2977515" y="6012180"/>
            <a:ext cx="240030" cy="215900"/>
            <a:chOff x="2977515" y="6012180"/>
            <a:chExt cx="240030" cy="215900"/>
          </a:xfrm>
        </p:grpSpPr>
        <p:sp>
          <p:nvSpPr>
            <p:cNvPr id="124" name="타원 22"/>
            <p:cNvSpPr>
              <a:spLocks/>
            </p:cNvSpPr>
            <p:nvPr/>
          </p:nvSpPr>
          <p:spPr>
            <a:xfrm rot="0">
              <a:off x="3009265" y="603567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25" name="TextBox 23"/>
            <p:cNvSpPr txBox="1">
              <a:spLocks/>
            </p:cNvSpPr>
            <p:nvPr/>
          </p:nvSpPr>
          <p:spPr>
            <a:xfrm rot="0">
              <a:off x="2977515" y="601218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9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1" name="그룹 42"/>
          <p:cNvGrpSpPr>
            <a:grpSpLocks/>
          </p:cNvGrpSpPr>
          <p:nvPr/>
        </p:nvGrpSpPr>
        <p:grpSpPr>
          <a:xfrm rot="0">
            <a:off x="3467100" y="1787525"/>
            <a:ext cx="240030" cy="215900"/>
            <a:chOff x="3467100" y="1787525"/>
            <a:chExt cx="240030" cy="215900"/>
          </a:xfrm>
        </p:grpSpPr>
        <p:sp>
          <p:nvSpPr>
            <p:cNvPr id="142" name="타원 40"/>
            <p:cNvSpPr>
              <a:spLocks/>
            </p:cNvSpPr>
            <p:nvPr/>
          </p:nvSpPr>
          <p:spPr>
            <a:xfrm rot="0">
              <a:off x="3498850" y="181102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3" name="TextBox 41"/>
            <p:cNvSpPr txBox="1">
              <a:spLocks/>
            </p:cNvSpPr>
            <p:nvPr/>
          </p:nvSpPr>
          <p:spPr>
            <a:xfrm rot="0">
              <a:off x="3467100" y="178752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4" name="그룹 45"/>
          <p:cNvGrpSpPr>
            <a:grpSpLocks/>
          </p:cNvGrpSpPr>
          <p:nvPr/>
        </p:nvGrpSpPr>
        <p:grpSpPr>
          <a:xfrm rot="0">
            <a:off x="2471420" y="2567940"/>
            <a:ext cx="240030" cy="215900"/>
            <a:chOff x="2471420" y="2567940"/>
            <a:chExt cx="240030" cy="215900"/>
          </a:xfrm>
        </p:grpSpPr>
        <p:sp>
          <p:nvSpPr>
            <p:cNvPr id="145" name="타원 43"/>
            <p:cNvSpPr>
              <a:spLocks/>
            </p:cNvSpPr>
            <p:nvPr/>
          </p:nvSpPr>
          <p:spPr>
            <a:xfrm rot="0">
              <a:off x="2503170" y="259143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6" name="TextBox 44"/>
            <p:cNvSpPr txBox="1">
              <a:spLocks/>
            </p:cNvSpPr>
            <p:nvPr/>
          </p:nvSpPr>
          <p:spPr>
            <a:xfrm rot="0">
              <a:off x="2471420" y="256794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7" name="그룹 48"/>
          <p:cNvGrpSpPr>
            <a:grpSpLocks/>
          </p:cNvGrpSpPr>
          <p:nvPr/>
        </p:nvGrpSpPr>
        <p:grpSpPr>
          <a:xfrm rot="0">
            <a:off x="5617210" y="896620"/>
            <a:ext cx="240030" cy="215900"/>
            <a:chOff x="5617210" y="896620"/>
            <a:chExt cx="240030" cy="215900"/>
          </a:xfrm>
        </p:grpSpPr>
        <p:sp>
          <p:nvSpPr>
            <p:cNvPr id="148" name="타원 46"/>
            <p:cNvSpPr>
              <a:spLocks/>
            </p:cNvSpPr>
            <p:nvPr/>
          </p:nvSpPr>
          <p:spPr>
            <a:xfrm rot="0">
              <a:off x="5648960" y="920115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49" name="TextBox 47"/>
            <p:cNvSpPr txBox="1">
              <a:spLocks/>
            </p:cNvSpPr>
            <p:nvPr/>
          </p:nvSpPr>
          <p:spPr>
            <a:xfrm rot="0">
              <a:off x="5617210" y="896620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5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50" name="그룹 51"/>
          <p:cNvGrpSpPr>
            <a:grpSpLocks/>
          </p:cNvGrpSpPr>
          <p:nvPr/>
        </p:nvGrpSpPr>
        <p:grpSpPr>
          <a:xfrm rot="0">
            <a:off x="3532505" y="3131185"/>
            <a:ext cx="240030" cy="215900"/>
            <a:chOff x="3532505" y="3131185"/>
            <a:chExt cx="240030" cy="215900"/>
          </a:xfrm>
        </p:grpSpPr>
        <p:sp>
          <p:nvSpPr>
            <p:cNvPr id="151" name="타원 49"/>
            <p:cNvSpPr>
              <a:spLocks/>
            </p:cNvSpPr>
            <p:nvPr/>
          </p:nvSpPr>
          <p:spPr>
            <a:xfrm rot="0">
              <a:off x="3564255" y="3154680"/>
              <a:ext cx="168910" cy="168910"/>
            </a:xfrm>
            <a:prstGeom prst="ellipse"/>
            <a:solidFill>
              <a:schemeClr val="tx1">
                <a:lumMod val="85000"/>
                <a:lumOff val="15000"/>
              </a:schemeClr>
            </a:solidFill>
            <a:ln>
              <a:noFill/>
              <a:prstDash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>
                <a:buFontTx/>
                <a:buNone/>
              </a:pPr>
              <a:endParaRPr lang="ko-KR" altLang="en-US"/>
            </a:p>
          </p:txBody>
        </p:sp>
        <p:sp>
          <p:nvSpPr>
            <p:cNvPr id="152" name="TextBox 50"/>
            <p:cNvSpPr txBox="1">
              <a:spLocks/>
            </p:cNvSpPr>
            <p:nvPr/>
          </p:nvSpPr>
          <p:spPr>
            <a:xfrm rot="0">
              <a:off x="3532505" y="3131185"/>
              <a:ext cx="240030" cy="215900"/>
            </a:xfrm>
            <a:prstGeom prst="rect"/>
            <a:noFill/>
          </p:spPr>
          <p:txBody>
            <a:bodyPr wrap="none" lIns="91440" tIns="45720" rIns="91440" bIns="45720" numCol="1" vert="horz" anchor="t">
              <a:spAutoFit/>
            </a:bodyPr>
            <a:lstStyle/>
            <a:p>
              <a:pPr marL="0" indent="0">
                <a:buFontTx/>
                <a:buNone/>
              </a:pPr>
              <a:r>
                <a:rPr lang="en-US" altLang="ko-KR" sz="80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endParaRPr lang="ko-KR" altLang="en-US" sz="8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WebOffice</Application>
  <AppVersion>12.000</AppVersion>
  <Characters>0</Characters>
  <CharactersWithSpaces>0</CharactersWithSpaces>
  <Company>Microsoft</Company>
  <DocSecurity>0</DocSecurity>
  <HyperlinksChanged>false</HyperlinksChanged>
  <Lines>0</Lines>
  <LinksUpToDate>false</LinksUpToDate>
  <Pages>19</Pages>
  <Paragraphs>726</Paragraphs>
  <Words>1536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AutoBVT</dc:creator>
  <cp:lastModifiedBy>Dell</cp:lastModifiedBy>
  <dc:title>PowerPoint 프레젠테이션</dc:title>
  <dcterms:modified xsi:type="dcterms:W3CDTF">2021-11-03T12:13:45Z</dcterms:modified>
</cp:coreProperties>
</file>